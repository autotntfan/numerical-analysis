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9" r:id="rId4"/>
    <p:sldId id="263" r:id="rId5"/>
    <p:sldId id="260" r:id="rId6"/>
    <p:sldId id="264" r:id="rId7"/>
    <p:sldId id="265" r:id="rId8"/>
    <p:sldId id="266" r:id="rId9"/>
    <p:sldId id="267" r:id="rId10"/>
    <p:sldId id="258" r:id="rId11"/>
    <p:sldId id="261" r:id="rId12"/>
    <p:sldId id="262"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88118" autoAdjust="0"/>
  </p:normalViewPr>
  <p:slideViewPr>
    <p:cSldViewPr snapToGrid="0">
      <p:cViewPr varScale="1">
        <p:scale>
          <a:sx n="100" d="100"/>
          <a:sy n="100" d="100"/>
        </p:scale>
        <p:origin x="9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EA4E-982E-4DFE-B6FB-CB1580BA7112}" type="datetimeFigureOut">
              <a:rPr lang="zh-TW" altLang="en-US" smtClean="0"/>
              <a:t>2021/5/13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577BDB-9366-4165-B23C-D83F2ECF75BC}" type="slidenum">
              <a:rPr lang="zh-TW" altLang="en-US" smtClean="0"/>
              <a:t>‹#›</a:t>
            </a:fld>
            <a:endParaRPr lang="zh-TW" altLang="en-US"/>
          </a:p>
        </p:txBody>
      </p:sp>
    </p:spTree>
    <p:extLst>
      <p:ext uri="{BB962C8B-B14F-4D97-AF65-F5344CB8AC3E}">
        <p14:creationId xmlns:p14="http://schemas.microsoft.com/office/powerpoint/2010/main" val="3386490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使用太多特徵去訓練，導致學習了過多異常特徵，例如燥點，所以回頭看就會出現</a:t>
            </a:r>
            <a:r>
              <a:rPr lang="en-US" altLang="zh-TW" dirty="0"/>
              <a:t>overfitting</a:t>
            </a:r>
            <a:r>
              <a:rPr lang="zh-TW" altLang="en-US" dirty="0"/>
              <a:t>，</a:t>
            </a:r>
            <a:r>
              <a:rPr lang="en-US" altLang="zh-TW" dirty="0"/>
              <a:t>overfitting</a:t>
            </a:r>
            <a:r>
              <a:rPr lang="zh-TW" altLang="en-US" dirty="0"/>
              <a:t>是維度災難中的其中一個結果</a:t>
            </a:r>
            <a:endParaRPr lang="en-US" altLang="zh-TW" dirty="0"/>
          </a:p>
          <a:p>
            <a:r>
              <a:rPr lang="zh-TW" altLang="en-US" dirty="0"/>
              <a:t>投影</a:t>
            </a:r>
            <a:r>
              <a:rPr lang="en-US" altLang="zh-TW" dirty="0"/>
              <a:t>:</a:t>
            </a:r>
            <a:r>
              <a:rPr lang="zh-TW" altLang="en-US" dirty="0"/>
              <a:t>一種降維方式</a:t>
            </a:r>
          </a:p>
        </p:txBody>
      </p:sp>
      <p:sp>
        <p:nvSpPr>
          <p:cNvPr id="4" name="投影片編號版面配置區 3"/>
          <p:cNvSpPr>
            <a:spLocks noGrp="1"/>
          </p:cNvSpPr>
          <p:nvPr>
            <p:ph type="sldNum" sz="quarter" idx="5"/>
          </p:nvPr>
        </p:nvSpPr>
        <p:spPr/>
        <p:txBody>
          <a:bodyPr/>
          <a:lstStyle/>
          <a:p>
            <a:fld id="{B2577BDB-9366-4165-B23C-D83F2ECF75BC}" type="slidenum">
              <a:rPr lang="zh-TW" altLang="en-US" smtClean="0"/>
              <a:t>5</a:t>
            </a:fld>
            <a:endParaRPr lang="zh-TW" altLang="en-US"/>
          </a:p>
        </p:txBody>
      </p:sp>
    </p:spTree>
    <p:extLst>
      <p:ext uri="{BB962C8B-B14F-4D97-AF65-F5344CB8AC3E}">
        <p14:creationId xmlns:p14="http://schemas.microsoft.com/office/powerpoint/2010/main" val="2975473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我們把特徵值</a:t>
            </a:r>
            <a:r>
              <a:rPr lang="en-US" altLang="zh-TW" dirty="0"/>
              <a:t>Normalize</a:t>
            </a:r>
            <a:r>
              <a:rPr lang="zh-TW" altLang="en-US" dirty="0"/>
              <a:t>到</a:t>
            </a:r>
            <a:r>
              <a:rPr lang="en-US" altLang="zh-TW" dirty="0"/>
              <a:t>01</a:t>
            </a:r>
            <a:r>
              <a:rPr lang="zh-TW" altLang="en-US" dirty="0"/>
              <a:t>區間，假設我要取</a:t>
            </a:r>
            <a:r>
              <a:rPr lang="en-US" altLang="zh-TW" dirty="0"/>
              <a:t>2</a:t>
            </a:r>
            <a:r>
              <a:rPr lang="zh-TW" altLang="en-US" dirty="0"/>
              <a:t>成的資料當訓練資料，若我們只有取一個特徵，那就是</a:t>
            </a:r>
            <a:r>
              <a:rPr lang="en-US" altLang="zh-TW" dirty="0"/>
              <a:t>2</a:t>
            </a:r>
            <a:r>
              <a:rPr lang="zh-TW" altLang="en-US" dirty="0"/>
              <a:t>成的資料當訓練資料，廢話，但是當我們增加一個特徵，到了</a:t>
            </a:r>
            <a:r>
              <a:rPr lang="en-US" altLang="zh-TW" dirty="0"/>
              <a:t>2</a:t>
            </a:r>
            <a:r>
              <a:rPr lang="zh-TW" altLang="en-US" dirty="0"/>
              <a:t>維空間，而我們仍需要整體</a:t>
            </a:r>
            <a:r>
              <a:rPr lang="en-US" altLang="zh-TW" dirty="0"/>
              <a:t>2</a:t>
            </a:r>
            <a:r>
              <a:rPr lang="zh-TW" altLang="en-US" dirty="0"/>
              <a:t>成的資料當訓練資料，這時每個特徵我們就需要取</a:t>
            </a:r>
            <a:r>
              <a:rPr lang="en-US" altLang="zh-TW" dirty="0"/>
              <a:t>45%</a:t>
            </a:r>
            <a:r>
              <a:rPr lang="zh-TW" altLang="en-US" dirty="0"/>
              <a:t>的量當訓練資料，到了三個特徵的空間，每個特徵需要取到</a:t>
            </a:r>
            <a:r>
              <a:rPr lang="en-US" altLang="zh-TW" dirty="0"/>
              <a:t>58%</a:t>
            </a:r>
            <a:r>
              <a:rPr lang="zh-TW" altLang="en-US" dirty="0"/>
              <a:t>當我們的訓練資料。這意味著我們的特徵愈多，訓練時需要指數成長的訓練資料量，當資料量愈多，表示運算量會更複雜，也需要生更多的資料以支撐，專有名詞</a:t>
            </a:r>
            <a:r>
              <a:rPr lang="en-US" altLang="zh-TW" dirty="0"/>
              <a:t>combinational explosion.</a:t>
            </a:r>
            <a:endParaRPr lang="zh-TW" altLang="en-US" dirty="0"/>
          </a:p>
        </p:txBody>
      </p:sp>
      <p:sp>
        <p:nvSpPr>
          <p:cNvPr id="4" name="投影片編號版面配置區 3"/>
          <p:cNvSpPr>
            <a:spLocks noGrp="1"/>
          </p:cNvSpPr>
          <p:nvPr>
            <p:ph type="sldNum" sz="quarter" idx="5"/>
          </p:nvPr>
        </p:nvSpPr>
        <p:spPr/>
        <p:txBody>
          <a:bodyPr/>
          <a:lstStyle/>
          <a:p>
            <a:fld id="{B2577BDB-9366-4165-B23C-D83F2ECF75BC}" type="slidenum">
              <a:rPr lang="zh-TW" altLang="en-US" smtClean="0"/>
              <a:t>6</a:t>
            </a:fld>
            <a:endParaRPr lang="zh-TW" altLang="en-US"/>
          </a:p>
        </p:txBody>
      </p:sp>
    </p:spTree>
    <p:extLst>
      <p:ext uri="{BB962C8B-B14F-4D97-AF65-F5344CB8AC3E}">
        <p14:creationId xmlns:p14="http://schemas.microsoft.com/office/powerpoint/2010/main" val="2141042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角落的特徵特別的不合群，可以視作是這份資料的異類，例如全是紅色一坨東西，全身是綠色的一坨東西，因為沒有顏色變化，根本無法透過顏色去分到底是貓還是狗，當然，形狀也是一種特徵，所以才會說它是一坨東西。</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當我們把特徵取的更多，也就是維度更大，這些特徵會愈分散，而我們知道離整個</a:t>
            </a:r>
            <a:r>
              <a:rPr lang="en-US" altLang="zh-TW" dirty="0"/>
              <a:t>feature</a:t>
            </a:r>
            <a:r>
              <a:rPr lang="zh-TW" altLang="en-US" dirty="0"/>
              <a:t> </a:t>
            </a:r>
            <a:r>
              <a:rPr lang="en-US" altLang="zh-TW" dirty="0"/>
              <a:t>space</a:t>
            </a:r>
            <a:r>
              <a:rPr lang="zh-TW" altLang="en-US" dirty="0"/>
              <a:t>中心的特徵是最好分類的，透過超球體的數學公式可以發現，當維度愈高，球體體積甚至會趨近於</a:t>
            </a:r>
            <a:r>
              <a:rPr lang="en-US" altLang="zh-TW" dirty="0"/>
              <a:t>0</a:t>
            </a:r>
            <a:r>
              <a:rPr lang="zh-TW" altLang="en-US" dirty="0"/>
              <a:t>，也就是說</a:t>
            </a:r>
          </a:p>
          <a:p>
            <a:r>
              <a:rPr lang="zh-TW" altLang="en-US" dirty="0"/>
              <a:t>隨著維度加大，分散更嚴重，達到某個維度開始就會出現特徵都跑在角落上，例如下面這個</a:t>
            </a:r>
            <a:r>
              <a:rPr lang="en-US" altLang="zh-TW" dirty="0"/>
              <a:t>256</a:t>
            </a:r>
            <a:r>
              <a:rPr lang="zh-TW" altLang="en-US" dirty="0"/>
              <a:t>角形，此時透過一些距離計算的分類演算法，例如</a:t>
            </a:r>
            <a:r>
              <a:rPr lang="en-US" altLang="zh-TW" dirty="0"/>
              <a:t>KNN</a:t>
            </a:r>
            <a:r>
              <a:rPr lang="zh-TW" altLang="en-US" dirty="0"/>
              <a:t>就不可行了，因為搜索半徑根本就是</a:t>
            </a:r>
            <a:r>
              <a:rPr lang="en-US" altLang="zh-TW" dirty="0"/>
              <a:t>0</a:t>
            </a:r>
            <a:r>
              <a:rPr lang="zh-TW" altLang="en-US" dirty="0"/>
              <a:t>，無法搜索，這是維度災難的另一後果。</a:t>
            </a:r>
            <a:endParaRPr lang="en-US" altLang="zh-TW" dirty="0"/>
          </a:p>
        </p:txBody>
      </p:sp>
      <p:sp>
        <p:nvSpPr>
          <p:cNvPr id="4" name="投影片編號版面配置區 3"/>
          <p:cNvSpPr>
            <a:spLocks noGrp="1"/>
          </p:cNvSpPr>
          <p:nvPr>
            <p:ph type="sldNum" sz="quarter" idx="5"/>
          </p:nvPr>
        </p:nvSpPr>
        <p:spPr/>
        <p:txBody>
          <a:bodyPr/>
          <a:lstStyle/>
          <a:p>
            <a:fld id="{B2577BDB-9366-4165-B23C-D83F2ECF75BC}" type="slidenum">
              <a:rPr lang="zh-TW" altLang="en-US" smtClean="0"/>
              <a:t>7</a:t>
            </a:fld>
            <a:endParaRPr lang="zh-TW" altLang="en-US"/>
          </a:p>
        </p:txBody>
      </p:sp>
    </p:spTree>
    <p:extLst>
      <p:ext uri="{BB962C8B-B14F-4D97-AF65-F5344CB8AC3E}">
        <p14:creationId xmlns:p14="http://schemas.microsoft.com/office/powerpoint/2010/main" val="315478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線性代數兩個非常非常重要的分解</a:t>
            </a:r>
            <a:r>
              <a:rPr lang="en-US" altLang="zh-TW" dirty="0"/>
              <a:t>,</a:t>
            </a:r>
            <a:r>
              <a:rPr lang="zh-TW" altLang="en-US" dirty="0"/>
              <a:t>首先是</a:t>
            </a:r>
            <a:r>
              <a:rPr lang="en-US" altLang="zh-TW" dirty="0"/>
              <a:t>SVD</a:t>
            </a:r>
            <a:r>
              <a:rPr lang="zh-TW" altLang="en-US" dirty="0"/>
              <a:t>，而</a:t>
            </a:r>
            <a:r>
              <a:rPr lang="en-US" altLang="zh-TW" dirty="0"/>
              <a:t>AA’</a:t>
            </a:r>
            <a:r>
              <a:rPr lang="zh-TW" altLang="en-US" dirty="0"/>
              <a:t>和</a:t>
            </a:r>
            <a:r>
              <a:rPr lang="en-US" altLang="zh-TW" dirty="0"/>
              <a:t>A’A</a:t>
            </a:r>
            <a:r>
              <a:rPr lang="zh-TW" altLang="en-US" dirty="0"/>
              <a:t>由於是對稱矩陣，所以可以進一步做</a:t>
            </a:r>
            <a:r>
              <a:rPr lang="en-US" altLang="zh-TW" dirty="0"/>
              <a:t>spectral</a:t>
            </a:r>
            <a:r>
              <a:rPr lang="zh-TW" altLang="en-US" dirty="0"/>
              <a:t>分解，得到</a:t>
            </a:r>
            <a:r>
              <a:rPr lang="en-US" altLang="zh-TW" dirty="0"/>
              <a:t>lambda</a:t>
            </a:r>
            <a:r>
              <a:rPr lang="zh-TW" altLang="en-US" dirty="0"/>
              <a:t>是</a:t>
            </a:r>
            <a:r>
              <a:rPr lang="en-US" altLang="zh-TW" dirty="0"/>
              <a:t>A</a:t>
            </a:r>
            <a:r>
              <a:rPr lang="zh-TW" altLang="en-US" dirty="0"/>
              <a:t>的特徵值構成的對角矩陣，</a:t>
            </a:r>
            <a:r>
              <a:rPr lang="en-US" altLang="zh-TW" dirty="0"/>
              <a:t>Q</a:t>
            </a:r>
            <a:r>
              <a:rPr lang="zh-TW" altLang="en-US" dirty="0"/>
              <a:t>是特徵向量構成的</a:t>
            </a:r>
            <a:r>
              <a:rPr lang="en-US" altLang="zh-TW" dirty="0"/>
              <a:t>orthogonal matrix</a:t>
            </a:r>
            <a:r>
              <a:rPr lang="zh-TW" altLang="en-US" dirty="0"/>
              <a:t>，因此</a:t>
            </a:r>
            <a:endParaRPr lang="en-US" altLang="zh-TW" dirty="0"/>
          </a:p>
          <a:p>
            <a:r>
              <a:rPr lang="en-US" altLang="zh-TW" dirty="0"/>
              <a:t>D</a:t>
            </a:r>
            <a:r>
              <a:rPr lang="zh-TW" altLang="en-US" dirty="0"/>
              <a:t>是</a:t>
            </a:r>
            <a:r>
              <a:rPr lang="en-US" altLang="zh-TW" dirty="0"/>
              <a:t>A’A</a:t>
            </a:r>
            <a:r>
              <a:rPr lang="zh-TW" altLang="en-US" dirty="0"/>
              <a:t>的特徵值，</a:t>
            </a:r>
            <a:r>
              <a:rPr lang="en-US" altLang="zh-TW" dirty="0"/>
              <a:t>V</a:t>
            </a:r>
            <a:r>
              <a:rPr lang="zh-TW" altLang="en-US" dirty="0"/>
              <a:t>是</a:t>
            </a:r>
            <a:r>
              <a:rPr lang="en-US" altLang="zh-TW" dirty="0"/>
              <a:t>A’A</a:t>
            </a:r>
            <a:r>
              <a:rPr lang="zh-TW" altLang="en-US" dirty="0"/>
              <a:t>的特徵向量，以上是一般上課老師會教的東西，但實際上這到底在幹嘛跟</a:t>
            </a:r>
            <a:r>
              <a:rPr lang="en-US" altLang="zh-TW" dirty="0"/>
              <a:t>PCA</a:t>
            </a:r>
            <a:r>
              <a:rPr lang="zh-TW" altLang="en-US" dirty="0"/>
              <a:t>有甚麼關係，跟降維有甚麼關係</a:t>
            </a:r>
            <a:r>
              <a:rPr lang="en-US" altLang="zh-TW" dirty="0"/>
              <a:t>?</a:t>
            </a:r>
          </a:p>
          <a:p>
            <a:endParaRPr lang="zh-TW" altLang="en-US" dirty="0"/>
          </a:p>
        </p:txBody>
      </p:sp>
      <p:sp>
        <p:nvSpPr>
          <p:cNvPr id="4" name="投影片編號版面配置區 3"/>
          <p:cNvSpPr>
            <a:spLocks noGrp="1"/>
          </p:cNvSpPr>
          <p:nvPr>
            <p:ph type="sldNum" sz="quarter" idx="5"/>
          </p:nvPr>
        </p:nvSpPr>
        <p:spPr/>
        <p:txBody>
          <a:bodyPr/>
          <a:lstStyle/>
          <a:p>
            <a:fld id="{B2577BDB-9366-4165-B23C-D83F2ECF75BC}" type="slidenum">
              <a:rPr lang="zh-TW" altLang="en-US" smtClean="0"/>
              <a:t>9</a:t>
            </a:fld>
            <a:endParaRPr lang="zh-TW" altLang="en-US"/>
          </a:p>
        </p:txBody>
      </p:sp>
    </p:spTree>
    <p:extLst>
      <p:ext uri="{BB962C8B-B14F-4D97-AF65-F5344CB8AC3E}">
        <p14:creationId xmlns:p14="http://schemas.microsoft.com/office/powerpoint/2010/main" val="2212015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當我們一筆資料有很多的維度，也就是有很多個變數的時候，為了加快研究速度，或者省錢，老闆跟你說不要用這麼多資料，挑幾個重要的來做就好，你要怎麼決定要挑那些資料，這就是</a:t>
            </a:r>
            <a:r>
              <a:rPr lang="en-US" altLang="zh-TW" dirty="0"/>
              <a:t>PCA</a:t>
            </a:r>
            <a:r>
              <a:rPr lang="zh-TW" altLang="en-US" dirty="0"/>
              <a:t>在做的事情</a:t>
            </a:r>
          </a:p>
        </p:txBody>
      </p:sp>
      <p:sp>
        <p:nvSpPr>
          <p:cNvPr id="4" name="投影片編號版面配置區 3"/>
          <p:cNvSpPr>
            <a:spLocks noGrp="1"/>
          </p:cNvSpPr>
          <p:nvPr>
            <p:ph type="sldNum" sz="quarter" idx="5"/>
          </p:nvPr>
        </p:nvSpPr>
        <p:spPr/>
        <p:txBody>
          <a:bodyPr/>
          <a:lstStyle/>
          <a:p>
            <a:fld id="{B2577BDB-9366-4165-B23C-D83F2ECF75BC}" type="slidenum">
              <a:rPr lang="zh-TW" altLang="en-US" smtClean="0"/>
              <a:t>10</a:t>
            </a:fld>
            <a:endParaRPr lang="zh-TW" altLang="en-US"/>
          </a:p>
        </p:txBody>
      </p:sp>
    </p:spTree>
    <p:extLst>
      <p:ext uri="{BB962C8B-B14F-4D97-AF65-F5344CB8AC3E}">
        <p14:creationId xmlns:p14="http://schemas.microsoft.com/office/powerpoint/2010/main" val="1275423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B83F95-4365-40B2-81D6-6B35968975C7}"/>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BA9569C3-E865-41D7-BC0A-BFCA11C445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9F2E520F-5B01-4D3E-99C6-9CBE70986D5C}"/>
              </a:ext>
            </a:extLst>
          </p:cNvPr>
          <p:cNvSpPr>
            <a:spLocks noGrp="1"/>
          </p:cNvSpPr>
          <p:nvPr>
            <p:ph type="dt" sz="half" idx="10"/>
          </p:nvPr>
        </p:nvSpPr>
        <p:spPr/>
        <p:txBody>
          <a:bodyPr/>
          <a:lstStyle/>
          <a:p>
            <a:fld id="{0D659390-A804-42CF-91F1-0F9E3BFC7971}" type="datetimeFigureOut">
              <a:rPr lang="zh-TW" altLang="en-US" smtClean="0"/>
              <a:t>2021/5/13</a:t>
            </a:fld>
            <a:endParaRPr lang="zh-TW" altLang="en-US"/>
          </a:p>
        </p:txBody>
      </p:sp>
      <p:sp>
        <p:nvSpPr>
          <p:cNvPr id="5" name="頁尾版面配置區 4">
            <a:extLst>
              <a:ext uri="{FF2B5EF4-FFF2-40B4-BE49-F238E27FC236}">
                <a16:creationId xmlns:a16="http://schemas.microsoft.com/office/drawing/2014/main" id="{F5AFE4E8-A99A-4C41-BEBA-D984DA7C653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D7A12C-9BAC-4120-8E32-82AB77BC13BA}"/>
              </a:ext>
            </a:extLst>
          </p:cNvPr>
          <p:cNvSpPr>
            <a:spLocks noGrp="1"/>
          </p:cNvSpPr>
          <p:nvPr>
            <p:ph type="sldNum" sz="quarter" idx="12"/>
          </p:nvPr>
        </p:nvSpPr>
        <p:spPr/>
        <p:txBody>
          <a:bodyPr/>
          <a:lstStyle/>
          <a:p>
            <a:fld id="{C271DBE4-7F50-42A9-9FB7-CDB847C11E1E}" type="slidenum">
              <a:rPr lang="zh-TW" altLang="en-US" smtClean="0"/>
              <a:t>‹#›</a:t>
            </a:fld>
            <a:endParaRPr lang="zh-TW" altLang="en-US"/>
          </a:p>
        </p:txBody>
      </p:sp>
    </p:spTree>
    <p:extLst>
      <p:ext uri="{BB962C8B-B14F-4D97-AF65-F5344CB8AC3E}">
        <p14:creationId xmlns:p14="http://schemas.microsoft.com/office/powerpoint/2010/main" val="2233961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7BFD8D-95D3-4786-99DF-443E81EA8154}"/>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D2BA318-8D0C-4FA3-A8A6-E66AD1FAA8EA}"/>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956C023-DD68-42C1-A40B-4FCC83F3D155}"/>
              </a:ext>
            </a:extLst>
          </p:cNvPr>
          <p:cNvSpPr>
            <a:spLocks noGrp="1"/>
          </p:cNvSpPr>
          <p:nvPr>
            <p:ph type="dt" sz="half" idx="10"/>
          </p:nvPr>
        </p:nvSpPr>
        <p:spPr/>
        <p:txBody>
          <a:bodyPr/>
          <a:lstStyle/>
          <a:p>
            <a:fld id="{0D659390-A804-42CF-91F1-0F9E3BFC7971}" type="datetimeFigureOut">
              <a:rPr lang="zh-TW" altLang="en-US" smtClean="0"/>
              <a:t>2021/5/13</a:t>
            </a:fld>
            <a:endParaRPr lang="zh-TW" altLang="en-US"/>
          </a:p>
        </p:txBody>
      </p:sp>
      <p:sp>
        <p:nvSpPr>
          <p:cNvPr id="5" name="頁尾版面配置區 4">
            <a:extLst>
              <a:ext uri="{FF2B5EF4-FFF2-40B4-BE49-F238E27FC236}">
                <a16:creationId xmlns:a16="http://schemas.microsoft.com/office/drawing/2014/main" id="{CEF11435-33CE-432A-BB89-E373F748F4B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FA1A182-A5D1-4519-9463-040A37FFF0C9}"/>
              </a:ext>
            </a:extLst>
          </p:cNvPr>
          <p:cNvSpPr>
            <a:spLocks noGrp="1"/>
          </p:cNvSpPr>
          <p:nvPr>
            <p:ph type="sldNum" sz="quarter" idx="12"/>
          </p:nvPr>
        </p:nvSpPr>
        <p:spPr/>
        <p:txBody>
          <a:bodyPr/>
          <a:lstStyle/>
          <a:p>
            <a:fld id="{C271DBE4-7F50-42A9-9FB7-CDB847C11E1E}" type="slidenum">
              <a:rPr lang="zh-TW" altLang="en-US" smtClean="0"/>
              <a:t>‹#›</a:t>
            </a:fld>
            <a:endParaRPr lang="zh-TW" altLang="en-US"/>
          </a:p>
        </p:txBody>
      </p:sp>
    </p:spTree>
    <p:extLst>
      <p:ext uri="{BB962C8B-B14F-4D97-AF65-F5344CB8AC3E}">
        <p14:creationId xmlns:p14="http://schemas.microsoft.com/office/powerpoint/2010/main" val="4143373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F12DB7-839A-401A-A2CC-F3AE52A252C4}"/>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AAFADC9F-61B1-44F6-A451-3FEC98B19A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1E322C72-261C-4233-BC6F-2370A3DC69BE}"/>
              </a:ext>
            </a:extLst>
          </p:cNvPr>
          <p:cNvSpPr>
            <a:spLocks noGrp="1"/>
          </p:cNvSpPr>
          <p:nvPr>
            <p:ph type="dt" sz="half" idx="10"/>
          </p:nvPr>
        </p:nvSpPr>
        <p:spPr/>
        <p:txBody>
          <a:bodyPr/>
          <a:lstStyle/>
          <a:p>
            <a:fld id="{0D659390-A804-42CF-91F1-0F9E3BFC7971}" type="datetimeFigureOut">
              <a:rPr lang="zh-TW" altLang="en-US" smtClean="0"/>
              <a:t>2021/5/13</a:t>
            </a:fld>
            <a:endParaRPr lang="zh-TW" altLang="en-US"/>
          </a:p>
        </p:txBody>
      </p:sp>
      <p:sp>
        <p:nvSpPr>
          <p:cNvPr id="5" name="頁尾版面配置區 4">
            <a:extLst>
              <a:ext uri="{FF2B5EF4-FFF2-40B4-BE49-F238E27FC236}">
                <a16:creationId xmlns:a16="http://schemas.microsoft.com/office/drawing/2014/main" id="{CD1A6930-9CEA-4ECF-B062-11C712F8FB3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94C4B14-0410-410D-9831-272BA7A0D504}"/>
              </a:ext>
            </a:extLst>
          </p:cNvPr>
          <p:cNvSpPr>
            <a:spLocks noGrp="1"/>
          </p:cNvSpPr>
          <p:nvPr>
            <p:ph type="sldNum" sz="quarter" idx="12"/>
          </p:nvPr>
        </p:nvSpPr>
        <p:spPr/>
        <p:txBody>
          <a:bodyPr/>
          <a:lstStyle/>
          <a:p>
            <a:fld id="{C271DBE4-7F50-42A9-9FB7-CDB847C11E1E}" type="slidenum">
              <a:rPr lang="zh-TW" altLang="en-US" smtClean="0"/>
              <a:t>‹#›</a:t>
            </a:fld>
            <a:endParaRPr lang="zh-TW" altLang="en-US"/>
          </a:p>
        </p:txBody>
      </p:sp>
    </p:spTree>
    <p:extLst>
      <p:ext uri="{BB962C8B-B14F-4D97-AF65-F5344CB8AC3E}">
        <p14:creationId xmlns:p14="http://schemas.microsoft.com/office/powerpoint/2010/main" val="954989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30373E-6145-40CA-A9FD-D2256E68BC7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C6ED8096-4F64-4605-B76C-73696508D3A0}"/>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D3BE57AD-04DA-4D33-A540-7C1E50DCE806}"/>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74C5A1C1-9016-41DE-8C5A-FFA0932729EC}"/>
              </a:ext>
            </a:extLst>
          </p:cNvPr>
          <p:cNvSpPr>
            <a:spLocks noGrp="1"/>
          </p:cNvSpPr>
          <p:nvPr>
            <p:ph type="dt" sz="half" idx="10"/>
          </p:nvPr>
        </p:nvSpPr>
        <p:spPr/>
        <p:txBody>
          <a:bodyPr/>
          <a:lstStyle/>
          <a:p>
            <a:fld id="{0D659390-A804-42CF-91F1-0F9E3BFC7971}" type="datetimeFigureOut">
              <a:rPr lang="zh-TW" altLang="en-US" smtClean="0"/>
              <a:t>2021/5/13</a:t>
            </a:fld>
            <a:endParaRPr lang="zh-TW" altLang="en-US"/>
          </a:p>
        </p:txBody>
      </p:sp>
      <p:sp>
        <p:nvSpPr>
          <p:cNvPr id="6" name="頁尾版面配置區 5">
            <a:extLst>
              <a:ext uri="{FF2B5EF4-FFF2-40B4-BE49-F238E27FC236}">
                <a16:creationId xmlns:a16="http://schemas.microsoft.com/office/drawing/2014/main" id="{5950F640-A06B-4430-80B1-FA901C0327B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1666BF7-0DB8-4E5B-808B-A741DF4C6AF5}"/>
              </a:ext>
            </a:extLst>
          </p:cNvPr>
          <p:cNvSpPr>
            <a:spLocks noGrp="1"/>
          </p:cNvSpPr>
          <p:nvPr>
            <p:ph type="sldNum" sz="quarter" idx="12"/>
          </p:nvPr>
        </p:nvSpPr>
        <p:spPr/>
        <p:txBody>
          <a:bodyPr/>
          <a:lstStyle/>
          <a:p>
            <a:fld id="{C271DBE4-7F50-42A9-9FB7-CDB847C11E1E}" type="slidenum">
              <a:rPr lang="zh-TW" altLang="en-US" smtClean="0"/>
              <a:t>‹#›</a:t>
            </a:fld>
            <a:endParaRPr lang="zh-TW" altLang="en-US"/>
          </a:p>
        </p:txBody>
      </p:sp>
    </p:spTree>
    <p:extLst>
      <p:ext uri="{BB962C8B-B14F-4D97-AF65-F5344CB8AC3E}">
        <p14:creationId xmlns:p14="http://schemas.microsoft.com/office/powerpoint/2010/main" val="323630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FC85AD-595A-4290-A41B-8CA56E5473D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789E4EE-403E-485F-9E1B-354F42C066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C91D9E6C-476C-4C11-BB0F-B611B6DFF484}"/>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A950DD7C-A561-4DA5-851B-40253953C2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A730263C-17E0-4136-A410-49E5CBAA295F}"/>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C2E69A0D-A5AD-4A08-80C5-53DB34F36586}"/>
              </a:ext>
            </a:extLst>
          </p:cNvPr>
          <p:cNvSpPr>
            <a:spLocks noGrp="1"/>
          </p:cNvSpPr>
          <p:nvPr>
            <p:ph type="dt" sz="half" idx="10"/>
          </p:nvPr>
        </p:nvSpPr>
        <p:spPr/>
        <p:txBody>
          <a:bodyPr/>
          <a:lstStyle/>
          <a:p>
            <a:fld id="{0D659390-A804-42CF-91F1-0F9E3BFC7971}" type="datetimeFigureOut">
              <a:rPr lang="zh-TW" altLang="en-US" smtClean="0"/>
              <a:t>2021/5/13</a:t>
            </a:fld>
            <a:endParaRPr lang="zh-TW" altLang="en-US"/>
          </a:p>
        </p:txBody>
      </p:sp>
      <p:sp>
        <p:nvSpPr>
          <p:cNvPr id="8" name="頁尾版面配置區 7">
            <a:extLst>
              <a:ext uri="{FF2B5EF4-FFF2-40B4-BE49-F238E27FC236}">
                <a16:creationId xmlns:a16="http://schemas.microsoft.com/office/drawing/2014/main" id="{D615B309-C588-499E-B188-CACC066DD8D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78032BB9-FFD0-4989-B5F4-AE52BE05DC1C}"/>
              </a:ext>
            </a:extLst>
          </p:cNvPr>
          <p:cNvSpPr>
            <a:spLocks noGrp="1"/>
          </p:cNvSpPr>
          <p:nvPr>
            <p:ph type="sldNum" sz="quarter" idx="12"/>
          </p:nvPr>
        </p:nvSpPr>
        <p:spPr/>
        <p:txBody>
          <a:bodyPr/>
          <a:lstStyle/>
          <a:p>
            <a:fld id="{C271DBE4-7F50-42A9-9FB7-CDB847C11E1E}" type="slidenum">
              <a:rPr lang="zh-TW" altLang="en-US" smtClean="0"/>
              <a:t>‹#›</a:t>
            </a:fld>
            <a:endParaRPr lang="zh-TW" altLang="en-US"/>
          </a:p>
        </p:txBody>
      </p:sp>
    </p:spTree>
    <p:extLst>
      <p:ext uri="{BB962C8B-B14F-4D97-AF65-F5344CB8AC3E}">
        <p14:creationId xmlns:p14="http://schemas.microsoft.com/office/powerpoint/2010/main" val="1334036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F58407-43BA-4D38-9B77-E4B9301D64B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B1B23517-D189-4E7F-86C4-74253CA99431}"/>
              </a:ext>
            </a:extLst>
          </p:cNvPr>
          <p:cNvSpPr>
            <a:spLocks noGrp="1"/>
          </p:cNvSpPr>
          <p:nvPr>
            <p:ph type="dt" sz="half" idx="10"/>
          </p:nvPr>
        </p:nvSpPr>
        <p:spPr/>
        <p:txBody>
          <a:bodyPr/>
          <a:lstStyle/>
          <a:p>
            <a:fld id="{0D659390-A804-42CF-91F1-0F9E3BFC7971}" type="datetimeFigureOut">
              <a:rPr lang="zh-TW" altLang="en-US" smtClean="0"/>
              <a:t>2021/5/13</a:t>
            </a:fld>
            <a:endParaRPr lang="zh-TW" altLang="en-US"/>
          </a:p>
        </p:txBody>
      </p:sp>
      <p:sp>
        <p:nvSpPr>
          <p:cNvPr id="4" name="頁尾版面配置區 3">
            <a:extLst>
              <a:ext uri="{FF2B5EF4-FFF2-40B4-BE49-F238E27FC236}">
                <a16:creationId xmlns:a16="http://schemas.microsoft.com/office/drawing/2014/main" id="{045E0427-839C-465B-88F9-F5A70B92BB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F70DEE0C-EA26-4BB0-8A66-4EEB8A4328F8}"/>
              </a:ext>
            </a:extLst>
          </p:cNvPr>
          <p:cNvSpPr>
            <a:spLocks noGrp="1"/>
          </p:cNvSpPr>
          <p:nvPr>
            <p:ph type="sldNum" sz="quarter" idx="12"/>
          </p:nvPr>
        </p:nvSpPr>
        <p:spPr/>
        <p:txBody>
          <a:bodyPr/>
          <a:lstStyle/>
          <a:p>
            <a:fld id="{C271DBE4-7F50-42A9-9FB7-CDB847C11E1E}" type="slidenum">
              <a:rPr lang="zh-TW" altLang="en-US" smtClean="0"/>
              <a:t>‹#›</a:t>
            </a:fld>
            <a:endParaRPr lang="zh-TW" altLang="en-US"/>
          </a:p>
        </p:txBody>
      </p:sp>
    </p:spTree>
    <p:extLst>
      <p:ext uri="{BB962C8B-B14F-4D97-AF65-F5344CB8AC3E}">
        <p14:creationId xmlns:p14="http://schemas.microsoft.com/office/powerpoint/2010/main" val="4194727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B8B65FE-698E-4D2E-B82B-7EAC0E1195DA}"/>
              </a:ext>
            </a:extLst>
          </p:cNvPr>
          <p:cNvSpPr>
            <a:spLocks noGrp="1"/>
          </p:cNvSpPr>
          <p:nvPr>
            <p:ph type="dt" sz="half" idx="10"/>
          </p:nvPr>
        </p:nvSpPr>
        <p:spPr/>
        <p:txBody>
          <a:bodyPr/>
          <a:lstStyle/>
          <a:p>
            <a:fld id="{0D659390-A804-42CF-91F1-0F9E3BFC7971}" type="datetimeFigureOut">
              <a:rPr lang="zh-TW" altLang="en-US" smtClean="0"/>
              <a:t>2021/5/13</a:t>
            </a:fld>
            <a:endParaRPr lang="zh-TW" altLang="en-US"/>
          </a:p>
        </p:txBody>
      </p:sp>
      <p:sp>
        <p:nvSpPr>
          <p:cNvPr id="3" name="頁尾版面配置區 2">
            <a:extLst>
              <a:ext uri="{FF2B5EF4-FFF2-40B4-BE49-F238E27FC236}">
                <a16:creationId xmlns:a16="http://schemas.microsoft.com/office/drawing/2014/main" id="{E964E8C3-B5DE-4B55-852F-8E151367AE28}"/>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801FD576-1DBC-4BF5-B84A-8BFB95D5EA26}"/>
              </a:ext>
            </a:extLst>
          </p:cNvPr>
          <p:cNvSpPr>
            <a:spLocks noGrp="1"/>
          </p:cNvSpPr>
          <p:nvPr>
            <p:ph type="sldNum" sz="quarter" idx="12"/>
          </p:nvPr>
        </p:nvSpPr>
        <p:spPr/>
        <p:txBody>
          <a:bodyPr/>
          <a:lstStyle/>
          <a:p>
            <a:fld id="{C271DBE4-7F50-42A9-9FB7-CDB847C11E1E}" type="slidenum">
              <a:rPr lang="zh-TW" altLang="en-US" smtClean="0"/>
              <a:t>‹#›</a:t>
            </a:fld>
            <a:endParaRPr lang="zh-TW" altLang="en-US"/>
          </a:p>
        </p:txBody>
      </p:sp>
    </p:spTree>
    <p:extLst>
      <p:ext uri="{BB962C8B-B14F-4D97-AF65-F5344CB8AC3E}">
        <p14:creationId xmlns:p14="http://schemas.microsoft.com/office/powerpoint/2010/main" val="488499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B197BC-34AA-4B70-BC52-761E953ADBA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8A9201A8-FB52-451C-91B6-E9C6B42CC2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F0DB8D41-C78F-4558-AA34-337715D3B2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8EB5FBC-B430-4FF6-8F6D-63B14AF1283D}"/>
              </a:ext>
            </a:extLst>
          </p:cNvPr>
          <p:cNvSpPr>
            <a:spLocks noGrp="1"/>
          </p:cNvSpPr>
          <p:nvPr>
            <p:ph type="dt" sz="half" idx="10"/>
          </p:nvPr>
        </p:nvSpPr>
        <p:spPr/>
        <p:txBody>
          <a:bodyPr/>
          <a:lstStyle/>
          <a:p>
            <a:fld id="{0D659390-A804-42CF-91F1-0F9E3BFC7971}" type="datetimeFigureOut">
              <a:rPr lang="zh-TW" altLang="en-US" smtClean="0"/>
              <a:t>2021/5/13</a:t>
            </a:fld>
            <a:endParaRPr lang="zh-TW" altLang="en-US"/>
          </a:p>
        </p:txBody>
      </p:sp>
      <p:sp>
        <p:nvSpPr>
          <p:cNvPr id="6" name="頁尾版面配置區 5">
            <a:extLst>
              <a:ext uri="{FF2B5EF4-FFF2-40B4-BE49-F238E27FC236}">
                <a16:creationId xmlns:a16="http://schemas.microsoft.com/office/drawing/2014/main" id="{8DEB1288-5C8C-4F1E-8667-4ED4B58634F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2BB3C4A-6937-4B5B-9120-77F232854C92}"/>
              </a:ext>
            </a:extLst>
          </p:cNvPr>
          <p:cNvSpPr>
            <a:spLocks noGrp="1"/>
          </p:cNvSpPr>
          <p:nvPr>
            <p:ph type="sldNum" sz="quarter" idx="12"/>
          </p:nvPr>
        </p:nvSpPr>
        <p:spPr/>
        <p:txBody>
          <a:bodyPr/>
          <a:lstStyle/>
          <a:p>
            <a:fld id="{C271DBE4-7F50-42A9-9FB7-CDB847C11E1E}" type="slidenum">
              <a:rPr lang="zh-TW" altLang="en-US" smtClean="0"/>
              <a:t>‹#›</a:t>
            </a:fld>
            <a:endParaRPr lang="zh-TW" altLang="en-US"/>
          </a:p>
        </p:txBody>
      </p:sp>
    </p:spTree>
    <p:extLst>
      <p:ext uri="{BB962C8B-B14F-4D97-AF65-F5344CB8AC3E}">
        <p14:creationId xmlns:p14="http://schemas.microsoft.com/office/powerpoint/2010/main" val="3705127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AC36D0-4AC7-4A7B-9FB7-5A5E26F92E8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3B20E070-83D3-4287-A7AE-55E7281E12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152AE868-5851-4F73-BC6E-29DA2DDE96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4BD9765-B1FE-4173-AFFB-6DC4C40EF666}"/>
              </a:ext>
            </a:extLst>
          </p:cNvPr>
          <p:cNvSpPr>
            <a:spLocks noGrp="1"/>
          </p:cNvSpPr>
          <p:nvPr>
            <p:ph type="dt" sz="half" idx="10"/>
          </p:nvPr>
        </p:nvSpPr>
        <p:spPr/>
        <p:txBody>
          <a:bodyPr/>
          <a:lstStyle/>
          <a:p>
            <a:fld id="{0D659390-A804-42CF-91F1-0F9E3BFC7971}" type="datetimeFigureOut">
              <a:rPr lang="zh-TW" altLang="en-US" smtClean="0"/>
              <a:t>2021/5/13</a:t>
            </a:fld>
            <a:endParaRPr lang="zh-TW" altLang="en-US"/>
          </a:p>
        </p:txBody>
      </p:sp>
      <p:sp>
        <p:nvSpPr>
          <p:cNvPr id="6" name="頁尾版面配置區 5">
            <a:extLst>
              <a:ext uri="{FF2B5EF4-FFF2-40B4-BE49-F238E27FC236}">
                <a16:creationId xmlns:a16="http://schemas.microsoft.com/office/drawing/2014/main" id="{9719A662-2597-4D1A-AAFE-26443BF8BDB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3547254-F084-421E-AE92-A395EAA30A88}"/>
              </a:ext>
            </a:extLst>
          </p:cNvPr>
          <p:cNvSpPr>
            <a:spLocks noGrp="1"/>
          </p:cNvSpPr>
          <p:nvPr>
            <p:ph type="sldNum" sz="quarter" idx="12"/>
          </p:nvPr>
        </p:nvSpPr>
        <p:spPr/>
        <p:txBody>
          <a:bodyPr/>
          <a:lstStyle/>
          <a:p>
            <a:fld id="{C271DBE4-7F50-42A9-9FB7-CDB847C11E1E}" type="slidenum">
              <a:rPr lang="zh-TW" altLang="en-US" smtClean="0"/>
              <a:t>‹#›</a:t>
            </a:fld>
            <a:endParaRPr lang="zh-TW" altLang="en-US"/>
          </a:p>
        </p:txBody>
      </p:sp>
    </p:spTree>
    <p:extLst>
      <p:ext uri="{BB962C8B-B14F-4D97-AF65-F5344CB8AC3E}">
        <p14:creationId xmlns:p14="http://schemas.microsoft.com/office/powerpoint/2010/main" val="817354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B36E2F-49F8-4F6E-9577-3571DBDCAE44}"/>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1A45EA2-EBF5-4CA4-97C3-239EA0BC2912}"/>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14CEF24-5CE8-496B-A89F-3709CCBB28A9}"/>
              </a:ext>
            </a:extLst>
          </p:cNvPr>
          <p:cNvSpPr>
            <a:spLocks noGrp="1"/>
          </p:cNvSpPr>
          <p:nvPr>
            <p:ph type="dt" sz="half" idx="10"/>
          </p:nvPr>
        </p:nvSpPr>
        <p:spPr/>
        <p:txBody>
          <a:bodyPr/>
          <a:lstStyle/>
          <a:p>
            <a:fld id="{0D659390-A804-42CF-91F1-0F9E3BFC7971}" type="datetimeFigureOut">
              <a:rPr lang="zh-TW" altLang="en-US" smtClean="0"/>
              <a:t>2021/5/13</a:t>
            </a:fld>
            <a:endParaRPr lang="zh-TW" altLang="en-US"/>
          </a:p>
        </p:txBody>
      </p:sp>
      <p:sp>
        <p:nvSpPr>
          <p:cNvPr id="5" name="頁尾版面配置區 4">
            <a:extLst>
              <a:ext uri="{FF2B5EF4-FFF2-40B4-BE49-F238E27FC236}">
                <a16:creationId xmlns:a16="http://schemas.microsoft.com/office/drawing/2014/main" id="{3CBE455A-F97D-40D1-80BF-72894459CF3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26CE719-D50C-488C-AF32-527C451BF920}"/>
              </a:ext>
            </a:extLst>
          </p:cNvPr>
          <p:cNvSpPr>
            <a:spLocks noGrp="1"/>
          </p:cNvSpPr>
          <p:nvPr>
            <p:ph type="sldNum" sz="quarter" idx="12"/>
          </p:nvPr>
        </p:nvSpPr>
        <p:spPr/>
        <p:txBody>
          <a:bodyPr/>
          <a:lstStyle/>
          <a:p>
            <a:fld id="{C271DBE4-7F50-42A9-9FB7-CDB847C11E1E}" type="slidenum">
              <a:rPr lang="zh-TW" altLang="en-US" smtClean="0"/>
              <a:t>‹#›</a:t>
            </a:fld>
            <a:endParaRPr lang="zh-TW" altLang="en-US"/>
          </a:p>
        </p:txBody>
      </p:sp>
    </p:spTree>
    <p:extLst>
      <p:ext uri="{BB962C8B-B14F-4D97-AF65-F5344CB8AC3E}">
        <p14:creationId xmlns:p14="http://schemas.microsoft.com/office/powerpoint/2010/main" val="1225896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A371B1D-F832-456B-9113-49225178AF21}"/>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ACFF5A4-1974-45CA-BD5A-FCDB1008D965}"/>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22F5FC4-D8EE-4897-BF88-1F88568A2F45}"/>
              </a:ext>
            </a:extLst>
          </p:cNvPr>
          <p:cNvSpPr>
            <a:spLocks noGrp="1"/>
          </p:cNvSpPr>
          <p:nvPr>
            <p:ph type="dt" sz="half" idx="10"/>
          </p:nvPr>
        </p:nvSpPr>
        <p:spPr/>
        <p:txBody>
          <a:bodyPr/>
          <a:lstStyle/>
          <a:p>
            <a:fld id="{0D659390-A804-42CF-91F1-0F9E3BFC7971}" type="datetimeFigureOut">
              <a:rPr lang="zh-TW" altLang="en-US" smtClean="0"/>
              <a:t>2021/5/13</a:t>
            </a:fld>
            <a:endParaRPr lang="zh-TW" altLang="en-US"/>
          </a:p>
        </p:txBody>
      </p:sp>
      <p:sp>
        <p:nvSpPr>
          <p:cNvPr id="5" name="頁尾版面配置區 4">
            <a:extLst>
              <a:ext uri="{FF2B5EF4-FFF2-40B4-BE49-F238E27FC236}">
                <a16:creationId xmlns:a16="http://schemas.microsoft.com/office/drawing/2014/main" id="{275B3E1A-6F8B-4809-92DD-B5001C3AD90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8493492-A4A6-4BE9-9E2F-9F33038DEA7B}"/>
              </a:ext>
            </a:extLst>
          </p:cNvPr>
          <p:cNvSpPr>
            <a:spLocks noGrp="1"/>
          </p:cNvSpPr>
          <p:nvPr>
            <p:ph type="sldNum" sz="quarter" idx="12"/>
          </p:nvPr>
        </p:nvSpPr>
        <p:spPr/>
        <p:txBody>
          <a:bodyPr/>
          <a:lstStyle/>
          <a:p>
            <a:fld id="{C271DBE4-7F50-42A9-9FB7-CDB847C11E1E}" type="slidenum">
              <a:rPr lang="zh-TW" altLang="en-US" smtClean="0"/>
              <a:t>‹#›</a:t>
            </a:fld>
            <a:endParaRPr lang="zh-TW" altLang="en-US"/>
          </a:p>
        </p:txBody>
      </p:sp>
    </p:spTree>
    <p:extLst>
      <p:ext uri="{BB962C8B-B14F-4D97-AF65-F5344CB8AC3E}">
        <p14:creationId xmlns:p14="http://schemas.microsoft.com/office/powerpoint/2010/main" val="4109700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1E774CCB-5C10-42B7-AA8A-A2CE641BA1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DC83EBD-3695-43B2-A911-5D8821F609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2F0E7C1-5956-43BD-B47F-746B4AABB9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659390-A804-42CF-91F1-0F9E3BFC7971}" type="datetimeFigureOut">
              <a:rPr lang="zh-TW" altLang="en-US" smtClean="0"/>
              <a:t>2021/5/13</a:t>
            </a:fld>
            <a:endParaRPr lang="zh-TW" altLang="en-US"/>
          </a:p>
        </p:txBody>
      </p:sp>
      <p:sp>
        <p:nvSpPr>
          <p:cNvPr id="5" name="頁尾版面配置區 4">
            <a:extLst>
              <a:ext uri="{FF2B5EF4-FFF2-40B4-BE49-F238E27FC236}">
                <a16:creationId xmlns:a16="http://schemas.microsoft.com/office/drawing/2014/main" id="{8DA844D9-8427-40FE-86E1-BEF878AF7F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7BA706E6-C40E-4E74-88E8-3E7F779BD6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71DBE4-7F50-42A9-9FB7-CDB847C11E1E}" type="slidenum">
              <a:rPr lang="zh-TW" altLang="en-US" smtClean="0"/>
              <a:t>‹#›</a:t>
            </a:fld>
            <a:endParaRPr lang="zh-TW" altLang="en-US"/>
          </a:p>
        </p:txBody>
      </p:sp>
    </p:spTree>
    <p:extLst>
      <p:ext uri="{BB962C8B-B14F-4D97-AF65-F5344CB8AC3E}">
        <p14:creationId xmlns:p14="http://schemas.microsoft.com/office/powerpoint/2010/main" val="3443734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794E91-5EC9-4BF3-9536-DE4F3DD55847}"/>
              </a:ext>
            </a:extLst>
          </p:cNvPr>
          <p:cNvSpPr>
            <a:spLocks noGrp="1"/>
          </p:cNvSpPr>
          <p:nvPr>
            <p:ph type="ctrTitle"/>
          </p:nvPr>
        </p:nvSpPr>
        <p:spPr>
          <a:xfrm>
            <a:off x="296092" y="377780"/>
            <a:ext cx="4572000" cy="1085260"/>
          </a:xfrm>
        </p:spPr>
        <p:txBody>
          <a:bodyPr/>
          <a:lstStyle/>
          <a:p>
            <a:r>
              <a:rPr lang="en-US" altLang="zh-TW" dirty="0"/>
              <a:t>Purpose</a:t>
            </a:r>
            <a:endParaRPr lang="zh-TW" altLang="en-US" dirty="0"/>
          </a:p>
        </p:txBody>
      </p:sp>
      <p:sp>
        <p:nvSpPr>
          <p:cNvPr id="3" name="副標題 2">
            <a:extLst>
              <a:ext uri="{FF2B5EF4-FFF2-40B4-BE49-F238E27FC236}">
                <a16:creationId xmlns:a16="http://schemas.microsoft.com/office/drawing/2014/main" id="{3E8F6B82-A85F-4D26-8B29-72B8711259EB}"/>
              </a:ext>
            </a:extLst>
          </p:cNvPr>
          <p:cNvSpPr>
            <a:spLocks noGrp="1"/>
          </p:cNvSpPr>
          <p:nvPr>
            <p:ph type="subTitle" idx="1"/>
          </p:nvPr>
        </p:nvSpPr>
        <p:spPr>
          <a:xfrm>
            <a:off x="914400" y="1355227"/>
            <a:ext cx="9753600" cy="4536122"/>
          </a:xfrm>
        </p:spPr>
        <p:txBody>
          <a:bodyPr>
            <a:normAutofit/>
          </a:bodyPr>
          <a:lstStyle/>
          <a:p>
            <a:pPr algn="l"/>
            <a:r>
              <a:rPr lang="en-US" altLang="zh-TW" dirty="0"/>
              <a:t>	To be a data scientist or machine learning engineer, data analysis is important for businesses. Because most of engineers don’t need to spend much time to build a model, there has been many complete modules and algorithm in python. But the fact of the matter is how to adapt your data to modules.</a:t>
            </a:r>
          </a:p>
          <a:p>
            <a:pPr algn="l"/>
            <a:r>
              <a:rPr lang="en-US" altLang="zh-TW" dirty="0"/>
              <a:t>	Garbage in, Garbage out! Data’s quality will affect your model to make decisions. In practical, data is always very complicated, at least hundreds of variables or more. How can we deal with it?</a:t>
            </a:r>
          </a:p>
          <a:p>
            <a:pPr algn="l"/>
            <a:endParaRPr lang="zh-TW" altLang="en-US" dirty="0"/>
          </a:p>
        </p:txBody>
      </p:sp>
    </p:spTree>
    <p:extLst>
      <p:ext uri="{BB962C8B-B14F-4D97-AF65-F5344CB8AC3E}">
        <p14:creationId xmlns:p14="http://schemas.microsoft.com/office/powerpoint/2010/main" val="2361312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0083CA-4F52-4DE1-895C-6EF4DDA34005}"/>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612E222E-617C-4B7C-841D-5B99A7884E61}"/>
              </a:ext>
            </a:extLst>
          </p:cNvPr>
          <p:cNvSpPr>
            <a:spLocks noGrp="1"/>
          </p:cNvSpPr>
          <p:nvPr>
            <p:ph idx="1"/>
          </p:nvPr>
        </p:nvSpPr>
        <p:spPr/>
        <p:txBody>
          <a:bodyPr/>
          <a:lstStyle/>
          <a:p>
            <a:r>
              <a:rPr lang="en-US" altLang="zh-TW" dirty="0"/>
              <a:t>Curse of dimensionality</a:t>
            </a:r>
          </a:p>
          <a:p>
            <a:r>
              <a:rPr lang="en-US" altLang="zh-TW" dirty="0"/>
              <a:t>Linear algebra and probability review</a:t>
            </a:r>
          </a:p>
          <a:p>
            <a:r>
              <a:rPr lang="en-US" altLang="zh-TW" dirty="0"/>
              <a:t>PCA</a:t>
            </a:r>
          </a:p>
          <a:p>
            <a:r>
              <a:rPr lang="en-US" altLang="zh-TW" dirty="0"/>
              <a:t>SVD</a:t>
            </a:r>
          </a:p>
          <a:p>
            <a:r>
              <a:rPr lang="en-US" altLang="zh-TW" dirty="0"/>
              <a:t>Applications</a:t>
            </a:r>
            <a:endParaRPr lang="zh-TW" altLang="en-US" dirty="0"/>
          </a:p>
        </p:txBody>
      </p:sp>
    </p:spTree>
    <p:extLst>
      <p:ext uri="{BB962C8B-B14F-4D97-AF65-F5344CB8AC3E}">
        <p14:creationId xmlns:p14="http://schemas.microsoft.com/office/powerpoint/2010/main" val="2568248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B9E221-F820-434B-85AD-D0421845BAF7}"/>
              </a:ext>
            </a:extLst>
          </p:cNvPr>
          <p:cNvSpPr>
            <a:spLocks noGrp="1"/>
          </p:cNvSpPr>
          <p:nvPr>
            <p:ph type="title"/>
          </p:nvPr>
        </p:nvSpPr>
        <p:spPr/>
        <p:txBody>
          <a:bodyPr/>
          <a:lstStyle/>
          <a:p>
            <a:r>
              <a:rPr lang="en-US" altLang="zh-TW" dirty="0"/>
              <a:t>Curse of dimensionality</a:t>
            </a:r>
            <a:br>
              <a:rPr lang="en-US" altLang="zh-TW" dirty="0"/>
            </a:br>
            <a:endParaRPr lang="zh-TW" altLang="en-US" dirty="0"/>
          </a:p>
        </p:txBody>
      </p:sp>
      <p:pic>
        <p:nvPicPr>
          <p:cNvPr id="5" name="內容版面配置區 4">
            <a:extLst>
              <a:ext uri="{FF2B5EF4-FFF2-40B4-BE49-F238E27FC236}">
                <a16:creationId xmlns:a16="http://schemas.microsoft.com/office/drawing/2014/main" id="{3D37ABCC-1C31-4DAC-90B1-9D877B82C7DF}"/>
              </a:ext>
            </a:extLst>
          </p:cNvPr>
          <p:cNvPicPr>
            <a:picLocks noGrp="1" noChangeAspect="1"/>
          </p:cNvPicPr>
          <p:nvPr>
            <p:ph idx="1"/>
          </p:nvPr>
        </p:nvPicPr>
        <p:blipFill>
          <a:blip r:embed="rId2"/>
          <a:stretch>
            <a:fillRect/>
          </a:stretch>
        </p:blipFill>
        <p:spPr>
          <a:xfrm>
            <a:off x="458768" y="1253331"/>
            <a:ext cx="6702464" cy="4351338"/>
          </a:xfrm>
        </p:spPr>
      </p:pic>
      <p:sp>
        <p:nvSpPr>
          <p:cNvPr id="6" name="文字方塊 5">
            <a:extLst>
              <a:ext uri="{FF2B5EF4-FFF2-40B4-BE49-F238E27FC236}">
                <a16:creationId xmlns:a16="http://schemas.microsoft.com/office/drawing/2014/main" id="{EABD8DC0-1DCC-405E-950B-413FD738B3E4}"/>
              </a:ext>
            </a:extLst>
          </p:cNvPr>
          <p:cNvSpPr txBox="1"/>
          <p:nvPr/>
        </p:nvSpPr>
        <p:spPr>
          <a:xfrm>
            <a:off x="7567632" y="2447349"/>
            <a:ext cx="4165600" cy="1200329"/>
          </a:xfrm>
          <a:prstGeom prst="rect">
            <a:avLst/>
          </a:prstGeom>
          <a:noFill/>
        </p:spPr>
        <p:txBody>
          <a:bodyPr wrap="square" rtlCol="0">
            <a:spAutoFit/>
          </a:bodyPr>
          <a:lstStyle/>
          <a:p>
            <a:r>
              <a:rPr lang="en-US" altLang="zh-TW" dirty="0"/>
              <a:t>Features -&gt; Dimension -&gt; location</a:t>
            </a:r>
          </a:p>
          <a:p>
            <a:r>
              <a:rPr lang="en-US" altLang="zh-TW" dirty="0"/>
              <a:t>(red, green, blue, weight ….)</a:t>
            </a:r>
          </a:p>
          <a:p>
            <a:r>
              <a:rPr lang="en-US" altLang="zh-TW" dirty="0"/>
              <a:t>Class </a:t>
            </a:r>
          </a:p>
          <a:p>
            <a:r>
              <a:rPr lang="en-US" altLang="zh-TW" dirty="0"/>
              <a:t>(cat, dog …..)</a:t>
            </a:r>
            <a:endParaRPr lang="zh-TW" altLang="en-US" dirty="0"/>
          </a:p>
        </p:txBody>
      </p:sp>
    </p:spTree>
    <p:extLst>
      <p:ext uri="{BB962C8B-B14F-4D97-AF65-F5344CB8AC3E}">
        <p14:creationId xmlns:p14="http://schemas.microsoft.com/office/powerpoint/2010/main" val="1576215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D899E3-0455-4208-88AB-CBED693A853C}"/>
              </a:ext>
            </a:extLst>
          </p:cNvPr>
          <p:cNvSpPr>
            <a:spLocks noGrp="1"/>
          </p:cNvSpPr>
          <p:nvPr>
            <p:ph type="title"/>
          </p:nvPr>
        </p:nvSpPr>
        <p:spPr/>
        <p:txBody>
          <a:bodyPr/>
          <a:lstStyle/>
          <a:p>
            <a:r>
              <a:rPr lang="en-US" altLang="zh-TW" dirty="0"/>
              <a:t>Curse of dimensionality</a:t>
            </a:r>
            <a:endParaRPr lang="zh-TW" altLang="en-US" dirty="0"/>
          </a:p>
        </p:txBody>
      </p:sp>
      <p:pic>
        <p:nvPicPr>
          <p:cNvPr id="5" name="內容版面配置區 4">
            <a:extLst>
              <a:ext uri="{FF2B5EF4-FFF2-40B4-BE49-F238E27FC236}">
                <a16:creationId xmlns:a16="http://schemas.microsoft.com/office/drawing/2014/main" id="{ED8DB339-2F62-4D9A-B197-59C34A98DD9A}"/>
              </a:ext>
            </a:extLst>
          </p:cNvPr>
          <p:cNvPicPr>
            <a:picLocks noGrp="1" noChangeAspect="1"/>
          </p:cNvPicPr>
          <p:nvPr>
            <p:ph idx="1"/>
          </p:nvPr>
        </p:nvPicPr>
        <p:blipFill>
          <a:blip r:embed="rId2"/>
          <a:stretch>
            <a:fillRect/>
          </a:stretch>
        </p:blipFill>
        <p:spPr>
          <a:xfrm>
            <a:off x="1006566" y="1958180"/>
            <a:ext cx="4343400" cy="1209675"/>
          </a:xfrm>
        </p:spPr>
      </p:pic>
      <p:pic>
        <p:nvPicPr>
          <p:cNvPr id="7" name="圖片 6">
            <a:extLst>
              <a:ext uri="{FF2B5EF4-FFF2-40B4-BE49-F238E27FC236}">
                <a16:creationId xmlns:a16="http://schemas.microsoft.com/office/drawing/2014/main" id="{FDE6806D-CA1A-428E-90B0-DCB756F07BD2}"/>
              </a:ext>
            </a:extLst>
          </p:cNvPr>
          <p:cNvPicPr>
            <a:picLocks noChangeAspect="1"/>
          </p:cNvPicPr>
          <p:nvPr/>
        </p:nvPicPr>
        <p:blipFill>
          <a:blip r:embed="rId3"/>
          <a:stretch>
            <a:fillRect/>
          </a:stretch>
        </p:blipFill>
        <p:spPr>
          <a:xfrm>
            <a:off x="381000" y="3429000"/>
            <a:ext cx="5105400" cy="3286125"/>
          </a:xfrm>
          <a:prstGeom prst="rect">
            <a:avLst/>
          </a:prstGeom>
        </p:spPr>
      </p:pic>
      <p:pic>
        <p:nvPicPr>
          <p:cNvPr id="9" name="圖片 8">
            <a:extLst>
              <a:ext uri="{FF2B5EF4-FFF2-40B4-BE49-F238E27FC236}">
                <a16:creationId xmlns:a16="http://schemas.microsoft.com/office/drawing/2014/main" id="{0B5ADBC7-E4D0-441F-9F33-D9E893C991E9}"/>
              </a:ext>
            </a:extLst>
          </p:cNvPr>
          <p:cNvPicPr>
            <a:picLocks noChangeAspect="1"/>
          </p:cNvPicPr>
          <p:nvPr/>
        </p:nvPicPr>
        <p:blipFill>
          <a:blip r:embed="rId4"/>
          <a:stretch>
            <a:fillRect/>
          </a:stretch>
        </p:blipFill>
        <p:spPr>
          <a:xfrm>
            <a:off x="6191250" y="1037544"/>
            <a:ext cx="4994184" cy="5296380"/>
          </a:xfrm>
          <a:prstGeom prst="rect">
            <a:avLst/>
          </a:prstGeom>
        </p:spPr>
      </p:pic>
    </p:spTree>
    <p:extLst>
      <p:ext uri="{BB962C8B-B14F-4D97-AF65-F5344CB8AC3E}">
        <p14:creationId xmlns:p14="http://schemas.microsoft.com/office/powerpoint/2010/main" val="3306662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7D5166-BD04-498F-A12A-CBD4F3ED9726}"/>
              </a:ext>
            </a:extLst>
          </p:cNvPr>
          <p:cNvSpPr>
            <a:spLocks noGrp="1"/>
          </p:cNvSpPr>
          <p:nvPr>
            <p:ph type="title"/>
          </p:nvPr>
        </p:nvSpPr>
        <p:spPr/>
        <p:txBody>
          <a:bodyPr/>
          <a:lstStyle/>
          <a:p>
            <a:r>
              <a:rPr lang="en-US" altLang="zh-TW" dirty="0"/>
              <a:t>Overfitting</a:t>
            </a:r>
            <a:br>
              <a:rPr lang="en-US" altLang="zh-TW" dirty="0"/>
            </a:br>
            <a:endParaRPr lang="zh-TW" altLang="en-US" dirty="0"/>
          </a:p>
        </p:txBody>
      </p:sp>
      <p:pic>
        <p:nvPicPr>
          <p:cNvPr id="5" name="內容版面配置區 4">
            <a:extLst>
              <a:ext uri="{FF2B5EF4-FFF2-40B4-BE49-F238E27FC236}">
                <a16:creationId xmlns:a16="http://schemas.microsoft.com/office/drawing/2014/main" id="{F31D8A5C-925A-47BC-BA71-258040F3BEBD}"/>
              </a:ext>
            </a:extLst>
          </p:cNvPr>
          <p:cNvPicPr>
            <a:picLocks noGrp="1" noChangeAspect="1"/>
          </p:cNvPicPr>
          <p:nvPr>
            <p:ph idx="1"/>
          </p:nvPr>
        </p:nvPicPr>
        <p:blipFill>
          <a:blip r:embed="rId3"/>
          <a:stretch>
            <a:fillRect/>
          </a:stretch>
        </p:blipFill>
        <p:spPr>
          <a:xfrm>
            <a:off x="1073249" y="1838325"/>
            <a:ext cx="3974902" cy="4351338"/>
          </a:xfrm>
        </p:spPr>
      </p:pic>
      <p:pic>
        <p:nvPicPr>
          <p:cNvPr id="7" name="圖片 6">
            <a:extLst>
              <a:ext uri="{FF2B5EF4-FFF2-40B4-BE49-F238E27FC236}">
                <a16:creationId xmlns:a16="http://schemas.microsoft.com/office/drawing/2014/main" id="{B51D2DCD-68C5-43A9-88B2-E4FCB138E2E3}"/>
              </a:ext>
            </a:extLst>
          </p:cNvPr>
          <p:cNvPicPr>
            <a:picLocks noChangeAspect="1"/>
          </p:cNvPicPr>
          <p:nvPr/>
        </p:nvPicPr>
        <p:blipFill>
          <a:blip r:embed="rId4"/>
          <a:stretch>
            <a:fillRect/>
          </a:stretch>
        </p:blipFill>
        <p:spPr>
          <a:xfrm>
            <a:off x="6737074" y="0"/>
            <a:ext cx="4762500" cy="3343275"/>
          </a:xfrm>
          <a:prstGeom prst="rect">
            <a:avLst/>
          </a:prstGeom>
        </p:spPr>
      </p:pic>
      <p:pic>
        <p:nvPicPr>
          <p:cNvPr id="9" name="圖片 8">
            <a:extLst>
              <a:ext uri="{FF2B5EF4-FFF2-40B4-BE49-F238E27FC236}">
                <a16:creationId xmlns:a16="http://schemas.microsoft.com/office/drawing/2014/main" id="{B4522BBE-0A60-46DA-8E75-915CFA575593}"/>
              </a:ext>
            </a:extLst>
          </p:cNvPr>
          <p:cNvPicPr>
            <a:picLocks noChangeAspect="1"/>
          </p:cNvPicPr>
          <p:nvPr/>
        </p:nvPicPr>
        <p:blipFill>
          <a:blip r:embed="rId5"/>
          <a:stretch>
            <a:fillRect/>
          </a:stretch>
        </p:blipFill>
        <p:spPr>
          <a:xfrm>
            <a:off x="6255776" y="3499577"/>
            <a:ext cx="4639503" cy="3249327"/>
          </a:xfrm>
          <a:prstGeom prst="rect">
            <a:avLst/>
          </a:prstGeom>
        </p:spPr>
      </p:pic>
    </p:spTree>
    <p:extLst>
      <p:ext uri="{BB962C8B-B14F-4D97-AF65-F5344CB8AC3E}">
        <p14:creationId xmlns:p14="http://schemas.microsoft.com/office/powerpoint/2010/main" val="1675251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4506C07-60CE-4677-878C-4923D5A1BD6C}"/>
              </a:ext>
            </a:extLst>
          </p:cNvPr>
          <p:cNvSpPr>
            <a:spLocks noGrp="1"/>
          </p:cNvSpPr>
          <p:nvPr>
            <p:ph type="title"/>
          </p:nvPr>
        </p:nvSpPr>
        <p:spPr/>
        <p:txBody>
          <a:bodyPr/>
          <a:lstStyle/>
          <a:p>
            <a:r>
              <a:rPr lang="en-US" altLang="zh-TW" dirty="0"/>
              <a:t>Combinational explosion</a:t>
            </a:r>
            <a:br>
              <a:rPr lang="en-US" altLang="zh-TW" dirty="0"/>
            </a:br>
            <a:endParaRPr lang="zh-TW" altLang="en-US" dirty="0"/>
          </a:p>
        </p:txBody>
      </p:sp>
      <p:pic>
        <p:nvPicPr>
          <p:cNvPr id="5" name="內容版面配置區 4">
            <a:extLst>
              <a:ext uri="{FF2B5EF4-FFF2-40B4-BE49-F238E27FC236}">
                <a16:creationId xmlns:a16="http://schemas.microsoft.com/office/drawing/2014/main" id="{1EA92EF6-7E54-4C16-BC11-BD5702376013}"/>
              </a:ext>
            </a:extLst>
          </p:cNvPr>
          <p:cNvPicPr>
            <a:picLocks noGrp="1" noChangeAspect="1"/>
          </p:cNvPicPr>
          <p:nvPr>
            <p:ph idx="1"/>
          </p:nvPr>
        </p:nvPicPr>
        <p:blipFill>
          <a:blip r:embed="rId3"/>
          <a:stretch>
            <a:fillRect/>
          </a:stretch>
        </p:blipFill>
        <p:spPr>
          <a:xfrm>
            <a:off x="1109455" y="2513336"/>
            <a:ext cx="10344150" cy="3724275"/>
          </a:xfrm>
        </p:spPr>
      </p:pic>
      <p:sp>
        <p:nvSpPr>
          <p:cNvPr id="6" name="文字方塊 5">
            <a:extLst>
              <a:ext uri="{FF2B5EF4-FFF2-40B4-BE49-F238E27FC236}">
                <a16:creationId xmlns:a16="http://schemas.microsoft.com/office/drawing/2014/main" id="{1383AF3C-78BB-47E1-8A58-7F22DD67D7B9}"/>
              </a:ext>
            </a:extLst>
          </p:cNvPr>
          <p:cNvSpPr txBox="1"/>
          <p:nvPr/>
        </p:nvSpPr>
        <p:spPr>
          <a:xfrm>
            <a:off x="278295" y="1410187"/>
            <a:ext cx="4147931" cy="1477328"/>
          </a:xfrm>
          <a:prstGeom prst="rect">
            <a:avLst/>
          </a:prstGeom>
          <a:noFill/>
        </p:spPr>
        <p:txBody>
          <a:bodyPr wrap="square" rtlCol="0">
            <a:spAutoFit/>
          </a:bodyPr>
          <a:lstStyle/>
          <a:p>
            <a:r>
              <a:rPr lang="en-US" altLang="zh-TW" dirty="0"/>
              <a:t>Normalize the feature value in [0,1]</a:t>
            </a:r>
          </a:p>
          <a:p>
            <a:r>
              <a:rPr lang="en-US" altLang="zh-TW" dirty="0"/>
              <a:t>For 1D, let each cat and dog has only one corresponding location.</a:t>
            </a:r>
          </a:p>
          <a:p>
            <a:r>
              <a:rPr lang="en-US" altLang="zh-TW" dirty="0"/>
              <a:t>If our training data cover 20% in the characteristic space.</a:t>
            </a:r>
            <a:endParaRPr lang="zh-TW" altLang="en-US" dirty="0"/>
          </a:p>
        </p:txBody>
      </p:sp>
      <p:sp>
        <p:nvSpPr>
          <p:cNvPr id="7" name="文字方塊 6">
            <a:extLst>
              <a:ext uri="{FF2B5EF4-FFF2-40B4-BE49-F238E27FC236}">
                <a16:creationId xmlns:a16="http://schemas.microsoft.com/office/drawing/2014/main" id="{5D685845-DCF8-4FA3-BAED-13AFCF8FEE93}"/>
              </a:ext>
            </a:extLst>
          </p:cNvPr>
          <p:cNvSpPr txBox="1"/>
          <p:nvPr/>
        </p:nvSpPr>
        <p:spPr>
          <a:xfrm>
            <a:off x="4784035" y="1456781"/>
            <a:ext cx="3313043" cy="2308324"/>
          </a:xfrm>
          <a:prstGeom prst="rect">
            <a:avLst/>
          </a:prstGeom>
          <a:noFill/>
        </p:spPr>
        <p:txBody>
          <a:bodyPr wrap="square" rtlCol="0">
            <a:spAutoFit/>
          </a:bodyPr>
          <a:lstStyle/>
          <a:p>
            <a:r>
              <a:rPr lang="en-US" altLang="zh-TW" dirty="0"/>
              <a:t>Then, we add the second characteristic, i.e. 2D space.</a:t>
            </a:r>
          </a:p>
          <a:p>
            <a:r>
              <a:rPr lang="en-US" altLang="zh-TW" dirty="0"/>
              <a:t>In order to maintain the proportion as per conversation, we need 45% of per feature.</a:t>
            </a:r>
          </a:p>
          <a:p>
            <a:r>
              <a:rPr lang="en-US" altLang="zh-TW" dirty="0"/>
              <a:t>(0.45*0.45=0.2)</a:t>
            </a:r>
          </a:p>
          <a:p>
            <a:r>
              <a:rPr lang="en-US" altLang="zh-TW" dirty="0"/>
              <a:t> </a:t>
            </a:r>
          </a:p>
          <a:p>
            <a:endParaRPr lang="zh-TW" altLang="en-US" dirty="0"/>
          </a:p>
        </p:txBody>
      </p:sp>
      <p:sp>
        <p:nvSpPr>
          <p:cNvPr id="8" name="文字方塊 7">
            <a:extLst>
              <a:ext uri="{FF2B5EF4-FFF2-40B4-BE49-F238E27FC236}">
                <a16:creationId xmlns:a16="http://schemas.microsoft.com/office/drawing/2014/main" id="{E6CCB3BF-41DB-4899-9825-56501ADE53F9}"/>
              </a:ext>
            </a:extLst>
          </p:cNvPr>
          <p:cNvSpPr txBox="1"/>
          <p:nvPr/>
        </p:nvSpPr>
        <p:spPr>
          <a:xfrm>
            <a:off x="8468139" y="1219200"/>
            <a:ext cx="3445566" cy="646331"/>
          </a:xfrm>
          <a:prstGeom prst="rect">
            <a:avLst/>
          </a:prstGeom>
          <a:noFill/>
        </p:spPr>
        <p:txBody>
          <a:bodyPr wrap="square" rtlCol="0">
            <a:spAutoFit/>
          </a:bodyPr>
          <a:lstStyle/>
          <a:p>
            <a:r>
              <a:rPr lang="en-US" altLang="zh-TW" dirty="0"/>
              <a:t>For 3D, we need 58% of per feature.(0.58*0.58*0.58=2)</a:t>
            </a:r>
            <a:endParaRPr lang="zh-TW" altLang="en-US" dirty="0"/>
          </a:p>
        </p:txBody>
      </p:sp>
      <p:sp>
        <p:nvSpPr>
          <p:cNvPr id="9" name="文字方塊 8">
            <a:extLst>
              <a:ext uri="{FF2B5EF4-FFF2-40B4-BE49-F238E27FC236}">
                <a16:creationId xmlns:a16="http://schemas.microsoft.com/office/drawing/2014/main" id="{158925AE-554C-4389-A78D-6831F5DED491}"/>
              </a:ext>
            </a:extLst>
          </p:cNvPr>
          <p:cNvSpPr txBox="1"/>
          <p:nvPr/>
        </p:nvSpPr>
        <p:spPr>
          <a:xfrm>
            <a:off x="3339550" y="6140301"/>
            <a:ext cx="6069494" cy="646331"/>
          </a:xfrm>
          <a:prstGeom prst="rect">
            <a:avLst/>
          </a:prstGeom>
          <a:noFill/>
        </p:spPr>
        <p:txBody>
          <a:bodyPr wrap="square" rtlCol="0">
            <a:spAutoFit/>
          </a:bodyPr>
          <a:lstStyle/>
          <a:p>
            <a:r>
              <a:rPr lang="en-US" altLang="zh-TW" dirty="0"/>
              <a:t>The requirement  of  # training data is exponential growth</a:t>
            </a:r>
          </a:p>
          <a:p>
            <a:endParaRPr lang="zh-TW" altLang="en-US" dirty="0"/>
          </a:p>
        </p:txBody>
      </p:sp>
    </p:spTree>
    <p:extLst>
      <p:ext uri="{BB962C8B-B14F-4D97-AF65-F5344CB8AC3E}">
        <p14:creationId xmlns:p14="http://schemas.microsoft.com/office/powerpoint/2010/main" val="3929121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264EBB-985A-4D99-B0D2-2C3453C96ACF}"/>
              </a:ext>
            </a:extLst>
          </p:cNvPr>
          <p:cNvSpPr>
            <a:spLocks noGrp="1"/>
          </p:cNvSpPr>
          <p:nvPr>
            <p:ph type="title"/>
          </p:nvPr>
        </p:nvSpPr>
        <p:spPr/>
        <p:txBody>
          <a:bodyPr/>
          <a:lstStyle/>
          <a:p>
            <a:r>
              <a:rPr lang="en-US" altLang="zh-TW" dirty="0"/>
              <a:t>Invalid measurements</a:t>
            </a:r>
            <a:br>
              <a:rPr lang="en-US" altLang="zh-TW" dirty="0"/>
            </a:br>
            <a:endParaRPr lang="zh-TW" altLang="en-US" dirty="0"/>
          </a:p>
        </p:txBody>
      </p:sp>
      <p:pic>
        <p:nvPicPr>
          <p:cNvPr id="5" name="內容版面配置區 4">
            <a:extLst>
              <a:ext uri="{FF2B5EF4-FFF2-40B4-BE49-F238E27FC236}">
                <a16:creationId xmlns:a16="http://schemas.microsoft.com/office/drawing/2014/main" id="{6C94A4C4-36D1-423C-B6E6-99295E2147DA}"/>
              </a:ext>
            </a:extLst>
          </p:cNvPr>
          <p:cNvPicPr>
            <a:picLocks noGrp="1" noChangeAspect="1"/>
          </p:cNvPicPr>
          <p:nvPr>
            <p:ph idx="1"/>
          </p:nvPr>
        </p:nvPicPr>
        <p:blipFill>
          <a:blip r:embed="rId3"/>
          <a:stretch>
            <a:fillRect/>
          </a:stretch>
        </p:blipFill>
        <p:spPr>
          <a:xfrm>
            <a:off x="409205" y="1184811"/>
            <a:ext cx="2550271" cy="2508577"/>
          </a:xfrm>
        </p:spPr>
      </p:pic>
      <p:pic>
        <p:nvPicPr>
          <p:cNvPr id="7" name="圖片 6">
            <a:extLst>
              <a:ext uri="{FF2B5EF4-FFF2-40B4-BE49-F238E27FC236}">
                <a16:creationId xmlns:a16="http://schemas.microsoft.com/office/drawing/2014/main" id="{7897F7C0-BD0B-4047-8163-E093E6B766FF}"/>
              </a:ext>
            </a:extLst>
          </p:cNvPr>
          <p:cNvPicPr>
            <a:picLocks noChangeAspect="1"/>
          </p:cNvPicPr>
          <p:nvPr/>
        </p:nvPicPr>
        <p:blipFill>
          <a:blip r:embed="rId4"/>
          <a:stretch>
            <a:fillRect/>
          </a:stretch>
        </p:blipFill>
        <p:spPr>
          <a:xfrm>
            <a:off x="7503537" y="514073"/>
            <a:ext cx="2371725" cy="895350"/>
          </a:xfrm>
          <a:prstGeom prst="rect">
            <a:avLst/>
          </a:prstGeom>
        </p:spPr>
      </p:pic>
      <p:pic>
        <p:nvPicPr>
          <p:cNvPr id="9" name="圖片 8">
            <a:extLst>
              <a:ext uri="{FF2B5EF4-FFF2-40B4-BE49-F238E27FC236}">
                <a16:creationId xmlns:a16="http://schemas.microsoft.com/office/drawing/2014/main" id="{32C8715A-5CED-47BA-B6CF-6B4C05FFF8FE}"/>
              </a:ext>
            </a:extLst>
          </p:cNvPr>
          <p:cNvPicPr>
            <a:picLocks noChangeAspect="1"/>
          </p:cNvPicPr>
          <p:nvPr/>
        </p:nvPicPr>
        <p:blipFill>
          <a:blip r:embed="rId5"/>
          <a:stretch>
            <a:fillRect/>
          </a:stretch>
        </p:blipFill>
        <p:spPr>
          <a:xfrm>
            <a:off x="6203844" y="1529795"/>
            <a:ext cx="5433973" cy="5209799"/>
          </a:xfrm>
          <a:prstGeom prst="rect">
            <a:avLst/>
          </a:prstGeom>
        </p:spPr>
      </p:pic>
      <p:pic>
        <p:nvPicPr>
          <p:cNvPr id="11" name="圖片 10">
            <a:extLst>
              <a:ext uri="{FF2B5EF4-FFF2-40B4-BE49-F238E27FC236}">
                <a16:creationId xmlns:a16="http://schemas.microsoft.com/office/drawing/2014/main" id="{C3D5CE76-829A-4E8B-8EE2-86D5E3052AE4}"/>
              </a:ext>
            </a:extLst>
          </p:cNvPr>
          <p:cNvPicPr>
            <a:picLocks noChangeAspect="1"/>
          </p:cNvPicPr>
          <p:nvPr/>
        </p:nvPicPr>
        <p:blipFill>
          <a:blip r:embed="rId6"/>
          <a:stretch>
            <a:fillRect/>
          </a:stretch>
        </p:blipFill>
        <p:spPr>
          <a:xfrm>
            <a:off x="3019684" y="945319"/>
            <a:ext cx="3337560" cy="2748069"/>
          </a:xfrm>
          <a:prstGeom prst="rect">
            <a:avLst/>
          </a:prstGeom>
        </p:spPr>
      </p:pic>
      <p:pic>
        <p:nvPicPr>
          <p:cNvPr id="13" name="圖片 12">
            <a:extLst>
              <a:ext uri="{FF2B5EF4-FFF2-40B4-BE49-F238E27FC236}">
                <a16:creationId xmlns:a16="http://schemas.microsoft.com/office/drawing/2014/main" id="{EDD3B376-E2FF-482A-A3AC-5D78322CF3CD}"/>
              </a:ext>
            </a:extLst>
          </p:cNvPr>
          <p:cNvPicPr>
            <a:picLocks noChangeAspect="1"/>
          </p:cNvPicPr>
          <p:nvPr/>
        </p:nvPicPr>
        <p:blipFill>
          <a:blip r:embed="rId7"/>
          <a:stretch>
            <a:fillRect/>
          </a:stretch>
        </p:blipFill>
        <p:spPr>
          <a:xfrm>
            <a:off x="1712610" y="3693388"/>
            <a:ext cx="3094917" cy="3138262"/>
          </a:xfrm>
          <a:prstGeom prst="rect">
            <a:avLst/>
          </a:prstGeom>
        </p:spPr>
      </p:pic>
    </p:spTree>
    <p:extLst>
      <p:ext uri="{BB962C8B-B14F-4D97-AF65-F5344CB8AC3E}">
        <p14:creationId xmlns:p14="http://schemas.microsoft.com/office/powerpoint/2010/main" val="2731218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F80DFD-4E53-4738-B339-06B7326F4C36}"/>
              </a:ext>
            </a:extLst>
          </p:cNvPr>
          <p:cNvSpPr>
            <a:spLocks noGrp="1"/>
          </p:cNvSpPr>
          <p:nvPr>
            <p:ph type="title"/>
          </p:nvPr>
        </p:nvSpPr>
        <p:spPr/>
        <p:txBody>
          <a:bodyPr/>
          <a:lstStyle/>
          <a:p>
            <a:r>
              <a:rPr lang="en-US" altLang="zh-TW" dirty="0"/>
              <a:t>Linear algebra and probability review</a:t>
            </a:r>
            <a:br>
              <a:rPr lang="en-US" altLang="zh-TW" dirty="0"/>
            </a:b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74AC1F05-7673-4709-BE7A-D4410E0252D6}"/>
                  </a:ext>
                </a:extLst>
              </p:cNvPr>
              <p:cNvSpPr>
                <a:spLocks noGrp="1"/>
              </p:cNvSpPr>
              <p:nvPr>
                <p:ph idx="1"/>
              </p:nvPr>
            </p:nvSpPr>
            <p:spPr>
              <a:xfrm>
                <a:off x="2551626" y="1253331"/>
                <a:ext cx="7934791" cy="1198039"/>
              </a:xfrm>
            </p:spPr>
            <p:txBody>
              <a:bodyPr/>
              <a:lstStyle/>
              <a:p>
                <a:pPr marL="0" indent="0">
                  <a:buNone/>
                </a:pPr>
                <a:r>
                  <a:rPr lang="en-US" altLang="zh-TW" dirty="0"/>
                  <a:t>Covariance matrix </a:t>
                </a:r>
                <a14:m>
                  <m:oMath xmlns:m="http://schemas.openxmlformats.org/officeDocument/2006/math">
                    <m:r>
                      <m:rPr>
                        <m:sty m:val="p"/>
                      </m:rPr>
                      <a:rPr lang="en-US" altLang="zh-TW" b="0" i="0" smtClean="0">
                        <a:latin typeface="Cambria Math" panose="02040503050406030204" pitchFamily="18" charset="0"/>
                      </a:rPr>
                      <m:t>Σ</m:t>
                    </m:r>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plcHide m:val="on"/>
                            <m:mcs>
                              <m:mc>
                                <m:mcPr>
                                  <m:count m:val="2"/>
                                  <m:mcJc m:val="center"/>
                                </m:mcPr>
                              </m:mc>
                            </m:mcs>
                            <m:ctrlPr>
                              <a:rPr lang="en-US" altLang="zh-TW" b="0" i="1" smtClean="0">
                                <a:latin typeface="Cambria Math" panose="02040503050406030204" pitchFamily="18" charset="0"/>
                              </a:rPr>
                            </m:ctrlPr>
                          </m:mPr>
                          <m:m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𝑥</m:t>
                                  </m:r>
                                </m:sub>
                              </m:sSub>
                            </m:e>
                            <m:e>
                              <m:r>
                                <a:rPr lang="en-US" altLang="zh-TW" b="0" i="1" smtClean="0">
                                  <a:latin typeface="Cambria Math" panose="02040503050406030204" pitchFamily="18" charset="0"/>
                                </a:rPr>
                                <m:t>𝐶𝑜𝑣</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a:rPr lang="en-US" altLang="zh-TW" b="0" i="1" smtClean="0">
                                      <a:latin typeface="Cambria Math" panose="02040503050406030204" pitchFamily="18" charset="0"/>
                                    </a:rPr>
                                    <m:t>𝑦</m:t>
                                  </m:r>
                                </m:e>
                              </m:d>
                            </m:e>
                          </m:mr>
                          <m:mr>
                            <m:e>
                              <m:r>
                                <a:rPr lang="en-US" altLang="zh-TW" b="0" i="1" smtClean="0">
                                  <a:latin typeface="Cambria Math" panose="02040503050406030204" pitchFamily="18" charset="0"/>
                                </a:rPr>
                                <m:t>𝐶𝑜𝑣</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𝑦</m:t>
                                  </m:r>
                                  <m:r>
                                    <a:rPr lang="en-US" altLang="zh-TW" b="0" i="1" smtClean="0">
                                      <a:latin typeface="Cambria Math" panose="02040503050406030204" pitchFamily="18" charset="0"/>
                                    </a:rPr>
                                    <m:t>,</m:t>
                                  </m:r>
                                  <m:r>
                                    <a:rPr lang="en-US" altLang="zh-TW" b="0" i="1" smtClean="0">
                                      <a:latin typeface="Cambria Math" panose="02040503050406030204" pitchFamily="18" charset="0"/>
                                    </a:rPr>
                                    <m:t>𝑥</m:t>
                                  </m:r>
                                </m:e>
                              </m:d>
                            </m:e>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𝑦</m:t>
                                  </m:r>
                                </m:sub>
                              </m:sSub>
                              <m:r>
                                <a:rPr lang="en-US" altLang="zh-TW" b="0" i="1" smtClean="0">
                                  <a:latin typeface="Cambria Math" panose="02040503050406030204" pitchFamily="18" charset="0"/>
                                </a:rPr>
                                <m:t> </m:t>
                              </m:r>
                            </m:e>
                          </m:mr>
                        </m:m>
                      </m:e>
                    </m:d>
                  </m:oMath>
                </a14:m>
                <a:r>
                  <a:rPr lang="zh-TW" altLang="en-US" dirty="0"/>
                  <a:t>  </a:t>
                </a:r>
                <a:endParaRPr lang="en-US" altLang="zh-TW" dirty="0"/>
              </a:p>
              <a:p>
                <a:endParaRPr lang="zh-TW" altLang="en-US" dirty="0"/>
              </a:p>
            </p:txBody>
          </p:sp>
        </mc:Choice>
        <mc:Fallback>
          <p:sp>
            <p:nvSpPr>
              <p:cNvPr id="3" name="內容版面配置區 2">
                <a:extLst>
                  <a:ext uri="{FF2B5EF4-FFF2-40B4-BE49-F238E27FC236}">
                    <a16:creationId xmlns:a16="http://schemas.microsoft.com/office/drawing/2014/main" id="{74AC1F05-7673-4709-BE7A-D4410E0252D6}"/>
                  </a:ext>
                </a:extLst>
              </p:cNvPr>
              <p:cNvSpPr>
                <a:spLocks noGrp="1" noRot="1" noChangeAspect="1" noMove="1" noResize="1" noEditPoints="1" noAdjustHandles="1" noChangeArrowheads="1" noChangeShapeType="1" noTextEdit="1"/>
              </p:cNvSpPr>
              <p:nvPr>
                <p:ph idx="1"/>
              </p:nvPr>
            </p:nvSpPr>
            <p:spPr>
              <a:xfrm>
                <a:off x="2551626" y="1253331"/>
                <a:ext cx="7934791" cy="1198039"/>
              </a:xfrm>
              <a:blipFill>
                <a:blip r:embed="rId2"/>
                <a:stretch>
                  <a:fillRect l="-1614"/>
                </a:stretch>
              </a:blipFill>
            </p:spPr>
            <p:txBody>
              <a:bodyPr/>
              <a:lstStyle/>
              <a:p>
                <a:r>
                  <a:rPr lang="zh-TW" altLang="en-US">
                    <a:noFill/>
                  </a:rPr>
                  <a:t> </a:t>
                </a:r>
              </a:p>
            </p:txBody>
          </p:sp>
        </mc:Fallback>
      </mc:AlternateContent>
      <p:pic>
        <p:nvPicPr>
          <p:cNvPr id="8" name="內容版面配置區 4">
            <a:extLst>
              <a:ext uri="{FF2B5EF4-FFF2-40B4-BE49-F238E27FC236}">
                <a16:creationId xmlns:a16="http://schemas.microsoft.com/office/drawing/2014/main" id="{4069E33E-772A-439B-AD5F-E55CD4F58486}"/>
              </a:ext>
            </a:extLst>
          </p:cNvPr>
          <p:cNvPicPr>
            <a:picLocks noChangeAspect="1"/>
          </p:cNvPicPr>
          <p:nvPr/>
        </p:nvPicPr>
        <p:blipFill>
          <a:blip r:embed="rId3"/>
          <a:stretch>
            <a:fillRect/>
          </a:stretch>
        </p:blipFill>
        <p:spPr>
          <a:xfrm>
            <a:off x="3106102" y="2451370"/>
            <a:ext cx="6186913" cy="4351338"/>
          </a:xfrm>
          <a:prstGeom prst="rect">
            <a:avLst/>
          </a:prstGeom>
        </p:spPr>
      </p:pic>
    </p:spTree>
    <p:extLst>
      <p:ext uri="{BB962C8B-B14F-4D97-AF65-F5344CB8AC3E}">
        <p14:creationId xmlns:p14="http://schemas.microsoft.com/office/powerpoint/2010/main" val="2811285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08A7B00-2207-4D6A-AF59-4102BFA61E11}"/>
              </a:ext>
            </a:extLst>
          </p:cNvPr>
          <p:cNvSpPr>
            <a:spLocks noGrp="1"/>
          </p:cNvSpPr>
          <p:nvPr>
            <p:ph type="title"/>
          </p:nvPr>
        </p:nvSpPr>
        <p:spPr/>
        <p:txBody>
          <a:bodyPr/>
          <a:lstStyle/>
          <a:p>
            <a:r>
              <a:rPr lang="en-US" altLang="zh-TW" dirty="0"/>
              <a:t>Linear algebra and probability review</a:t>
            </a:r>
            <a:br>
              <a:rPr lang="en-US" altLang="zh-TW" dirty="0"/>
            </a:b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DAAE5891-F607-4B1D-A045-45015AD745A7}"/>
                  </a:ext>
                </a:extLst>
              </p:cNvPr>
              <p:cNvSpPr>
                <a:spLocks noGrp="1"/>
              </p:cNvSpPr>
              <p:nvPr>
                <p:ph idx="1"/>
              </p:nvPr>
            </p:nvSpPr>
            <p:spPr>
              <a:xfrm>
                <a:off x="838200" y="1253331"/>
                <a:ext cx="10515600" cy="5309394"/>
              </a:xfrm>
            </p:spPr>
            <p:txBody>
              <a:bodyPr>
                <a:normAutofit/>
              </a:bodyPr>
              <a:lstStyle/>
              <a:p>
                <a:pPr marL="0" indent="0">
                  <a:buNone/>
                </a:pPr>
                <a:r>
                  <a:rPr lang="en-US" altLang="zh-TW" dirty="0"/>
                  <a:t>Singular value decomposition</a:t>
                </a: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𝐴</m:t>
                      </m:r>
                      <m:r>
                        <a:rPr lang="en-US" altLang="zh-TW" b="0" i="1" smtClean="0">
                          <a:latin typeface="Cambria Math" panose="02040503050406030204" pitchFamily="18" charset="0"/>
                        </a:rPr>
                        <m:t> </m:t>
                      </m:r>
                      <m:r>
                        <a:rPr lang="zh-TW" altLang="en-US" b="0" i="1" smtClean="0">
                          <a:latin typeface="Cambria Math" panose="02040503050406030204" pitchFamily="18" charset="0"/>
                        </a:rPr>
                        <m:t>𝜖</m:t>
                      </m:r>
                      <m:r>
                        <a:rPr lang="en-US" altLang="zh-TW" b="0" i="1" smtClean="0">
                          <a:latin typeface="Cambria Math" panose="02040503050406030204" pitchFamily="18" charset="0"/>
                        </a:rPr>
                        <m:t> </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𝑅</m:t>
                          </m:r>
                        </m:e>
                        <m:sup>
                          <m:r>
                            <a:rPr lang="en-US" altLang="zh-TW" b="0" i="1" smtClean="0">
                              <a:latin typeface="Cambria Math" panose="02040503050406030204" pitchFamily="18" charset="0"/>
                            </a:rPr>
                            <m:t>𝑚</m:t>
                          </m:r>
                          <m:r>
                            <a:rPr lang="en-US" altLang="zh-TW" b="0" i="1" smtClean="0">
                              <a:latin typeface="Cambria Math" panose="02040503050406030204" pitchFamily="18" charset="0"/>
                            </a:rPr>
                            <m:t>×</m:t>
                          </m:r>
                          <m:r>
                            <a:rPr lang="en-US" altLang="zh-TW" b="0" i="1" smtClean="0">
                              <a:latin typeface="Cambria Math" panose="02040503050406030204" pitchFamily="18" charset="0"/>
                            </a:rPr>
                            <m:t>𝑛</m:t>
                          </m:r>
                        </m:sup>
                      </m:sSup>
                      <m:r>
                        <a:rPr lang="en-US" altLang="zh-TW" b="0" i="1" smtClean="0">
                          <a:latin typeface="Cambria Math" panose="02040503050406030204" pitchFamily="18" charset="0"/>
                        </a:rPr>
                        <m:t>, </m:t>
                      </m:r>
                      <m:r>
                        <a:rPr lang="en-US" altLang="zh-TW" b="0" i="1" smtClean="0">
                          <a:latin typeface="Cambria Math" panose="02040503050406030204" pitchFamily="18" charset="0"/>
                        </a:rPr>
                        <m:t>𝑡h𝑒𝑛</m:t>
                      </m:r>
                      <m:r>
                        <a:rPr lang="en-US" altLang="zh-TW" b="0" i="1" smtClean="0">
                          <a:latin typeface="Cambria Math" panose="02040503050406030204" pitchFamily="18" charset="0"/>
                        </a:rPr>
                        <m:t> </m:t>
                      </m:r>
                      <m:r>
                        <a:rPr lang="en-US" altLang="zh-TW" b="0" i="1" smtClean="0">
                          <a:latin typeface="Cambria Math" panose="02040503050406030204" pitchFamily="18" charset="0"/>
                        </a:rPr>
                        <m:t>𝐴</m:t>
                      </m:r>
                      <m:r>
                        <a:rPr lang="en-US" altLang="zh-TW" b="0" i="1" smtClean="0">
                          <a:latin typeface="Cambria Math" panose="02040503050406030204" pitchFamily="18" charset="0"/>
                        </a:rPr>
                        <m:t>=</m:t>
                      </m:r>
                      <m:r>
                        <a:rPr lang="en-US" altLang="zh-TW" b="0" i="1" smtClean="0">
                          <a:latin typeface="Cambria Math" panose="02040503050406030204" pitchFamily="18" charset="0"/>
                        </a:rPr>
                        <m:t>𝑈</m:t>
                      </m:r>
                      <m:r>
                        <m:rPr>
                          <m:sty m:val="p"/>
                        </m:rPr>
                        <a:rPr lang="en-US" altLang="zh-TW" b="0" i="0" smtClean="0">
                          <a:latin typeface="Cambria Math" panose="02040503050406030204" pitchFamily="18" charset="0"/>
                        </a:rPr>
                        <m:t>Σ</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𝑉</m:t>
                          </m:r>
                        </m:e>
                        <m:sup>
                          <m:r>
                            <a:rPr lang="en-US" altLang="zh-TW" b="0" i="1" smtClean="0">
                              <a:latin typeface="Cambria Math" panose="02040503050406030204" pitchFamily="18" charset="0"/>
                            </a:rPr>
                            <m:t>𝑇</m:t>
                          </m:r>
                        </m:sup>
                      </m:sSup>
                      <m:r>
                        <a:rPr lang="en-US" altLang="zh-TW" b="0" i="1" smtClean="0">
                          <a:latin typeface="Cambria Math" panose="02040503050406030204" pitchFamily="18" charset="0"/>
                        </a:rPr>
                        <m:t> </m:t>
                      </m:r>
                    </m:oMath>
                  </m:oMathPara>
                </a14:m>
                <a:endParaRPr lang="en-US" altLang="zh-TW" b="0" dirty="0"/>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𝑈</m:t>
                      </m:r>
                      <m:r>
                        <a:rPr lang="zh-TW" altLang="en-US" b="0" i="1" smtClean="0">
                          <a:latin typeface="Cambria Math" panose="02040503050406030204" pitchFamily="18" charset="0"/>
                        </a:rPr>
                        <m:t>𝜖</m:t>
                      </m:r>
                      <m:r>
                        <a:rPr lang="en-US" altLang="zh-TW" b="0" i="1" smtClean="0">
                          <a:latin typeface="Cambria Math" panose="02040503050406030204" pitchFamily="18" charset="0"/>
                        </a:rPr>
                        <m:t> </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𝑅</m:t>
                          </m:r>
                        </m:e>
                        <m:sup>
                          <m:r>
                            <a:rPr lang="en-US" altLang="zh-TW" b="0" i="1" smtClean="0">
                              <a:latin typeface="Cambria Math" panose="02040503050406030204" pitchFamily="18" charset="0"/>
                            </a:rPr>
                            <m:t>𝑚</m:t>
                          </m:r>
                          <m:r>
                            <a:rPr lang="en-US" altLang="zh-TW" b="0" i="1" smtClean="0">
                              <a:latin typeface="Cambria Math" panose="02040503050406030204" pitchFamily="18" charset="0"/>
                            </a:rPr>
                            <m:t>×</m:t>
                          </m:r>
                          <m:r>
                            <a:rPr lang="en-US" altLang="zh-TW" b="0" i="1" smtClean="0">
                              <a:latin typeface="Cambria Math" panose="02040503050406030204" pitchFamily="18" charset="0"/>
                            </a:rPr>
                            <m:t>𝑚</m:t>
                          </m:r>
                        </m:sup>
                      </m:sSup>
                      <m:r>
                        <a:rPr lang="en-US" altLang="zh-TW" b="0" i="1" smtClean="0">
                          <a:latin typeface="Cambria Math" panose="02040503050406030204" pitchFamily="18" charset="0"/>
                        </a:rPr>
                        <m:t>  </m:t>
                      </m:r>
                      <m:r>
                        <a:rPr lang="en-US" altLang="zh-TW" b="0" i="1" smtClean="0">
                          <a:latin typeface="Cambria Math" panose="02040503050406030204" pitchFamily="18" charset="0"/>
                        </a:rPr>
                        <m:t>𝑖𝑠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𝑎𝑛</m:t>
                      </m:r>
                      <m:r>
                        <a:rPr lang="en-US" altLang="zh-TW" b="0" i="1" smtClean="0">
                          <a:latin typeface="Cambria Math" panose="02040503050406030204" pitchFamily="18" charset="0"/>
                        </a:rPr>
                        <m:t> </m:t>
                      </m:r>
                      <m:r>
                        <a:rPr lang="en-US" altLang="zh-TW" b="0" i="1" smtClean="0">
                          <a:latin typeface="Cambria Math" panose="02040503050406030204" pitchFamily="18" charset="0"/>
                        </a:rPr>
                        <m:t>𝑜𝑟𝑡h𝑜𝑔𝑜𝑛𝑎𝑙</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𝑚𝑎𝑡𝑟𝑖𝑥</m:t>
                      </m:r>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𝐴𝐴</m:t>
                              </m:r>
                            </m:e>
                            <m:sup>
                              <m:r>
                                <a:rPr lang="en-US" altLang="zh-TW" b="0" i="1" smtClean="0">
                                  <a:latin typeface="Cambria Math" panose="02040503050406030204" pitchFamily="18" charset="0"/>
                                </a:rPr>
                                <m:t>𝑇</m:t>
                              </m:r>
                            </m:sup>
                          </m:sSup>
                          <m:r>
                            <a:rPr lang="en-US" altLang="zh-TW" b="0" i="1" smtClean="0">
                              <a:latin typeface="Cambria Math" panose="02040503050406030204" pitchFamily="18" charset="0"/>
                            </a:rPr>
                            <m:t>=</m:t>
                          </m:r>
                          <m:r>
                            <a:rPr lang="en-US" altLang="zh-TW" b="0" i="1" smtClean="0">
                              <a:latin typeface="Cambria Math" panose="02040503050406030204" pitchFamily="18" charset="0"/>
                            </a:rPr>
                            <m:t>𝑈𝐷</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𝑈</m:t>
                              </m:r>
                            </m:e>
                            <m:sup>
                              <m:r>
                                <a:rPr lang="en-US" altLang="zh-TW" b="0" i="1" smtClean="0">
                                  <a:latin typeface="Cambria Math" panose="02040503050406030204" pitchFamily="18" charset="0"/>
                                </a:rPr>
                                <m:t>𝑇</m:t>
                              </m:r>
                            </m:sup>
                          </m:sSup>
                        </m:e>
                      </m:d>
                    </m:oMath>
                  </m:oMathPara>
                </a14:m>
                <a:endParaRPr lang="en-US" altLang="zh-TW" b="0" dirty="0"/>
              </a:p>
              <a:p>
                <a:pPr marL="0" indent="0">
                  <a:buNone/>
                </a:pPr>
                <a:endParaRPr lang="en-US" altLang="zh-TW" b="0" dirty="0"/>
              </a:p>
              <a:p>
                <a:pPr marL="0" indent="0">
                  <a:buNone/>
                </a:pPr>
                <a:endParaRPr lang="en-US" altLang="zh-TW" b="0" dirty="0"/>
              </a:p>
              <a:p>
                <a:pPr marL="0" indent="0">
                  <a:buNone/>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Σ</m:t>
                      </m:r>
                      <m:r>
                        <a:rPr lang="zh-TW" altLang="en-US" b="0" i="1" smtClean="0">
                          <a:latin typeface="Cambria Math" panose="02040503050406030204" pitchFamily="18" charset="0"/>
                        </a:rPr>
                        <m:t>𝜖</m:t>
                      </m:r>
                      <m:r>
                        <a:rPr lang="en-US" altLang="zh-TW" b="0" i="1" smtClean="0">
                          <a:latin typeface="Cambria Math" panose="02040503050406030204" pitchFamily="18" charset="0"/>
                        </a:rPr>
                        <m:t> </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𝑅</m:t>
                          </m:r>
                        </m:e>
                        <m:sup>
                          <m:r>
                            <a:rPr lang="en-US" altLang="zh-TW" b="0" i="1" smtClean="0">
                              <a:latin typeface="Cambria Math" panose="02040503050406030204" pitchFamily="18" charset="0"/>
                            </a:rPr>
                            <m:t>𝑚</m:t>
                          </m:r>
                          <m:r>
                            <a:rPr lang="en-US" altLang="zh-TW" b="0" i="1" smtClean="0">
                              <a:latin typeface="Cambria Math" panose="02040503050406030204" pitchFamily="18" charset="0"/>
                            </a:rPr>
                            <m:t>×</m:t>
                          </m:r>
                          <m:r>
                            <a:rPr lang="en-US" altLang="zh-TW" b="0" i="1" smtClean="0">
                              <a:latin typeface="Cambria Math" panose="02040503050406030204" pitchFamily="18" charset="0"/>
                            </a:rPr>
                            <m:t>𝑛</m:t>
                          </m:r>
                        </m:sup>
                      </m:sSup>
                      <m:r>
                        <a:rPr lang="en-US" altLang="zh-TW" b="0" i="1" smtClean="0">
                          <a:latin typeface="Cambria Math" panose="02040503050406030204" pitchFamily="18" charset="0"/>
                        </a:rPr>
                        <m:t>, </m:t>
                      </m:r>
                      <m:r>
                        <m:rPr>
                          <m:sty m:val="p"/>
                        </m:rPr>
                        <a:rPr lang="en-US" altLang="zh-TW" b="0" i="0" smtClean="0">
                          <a:latin typeface="Cambria Math" panose="02040503050406030204" pitchFamily="18" charset="0"/>
                        </a:rPr>
                        <m:t>Σ</m:t>
                      </m:r>
                      <m:r>
                        <a:rPr lang="en-US" altLang="zh-TW" b="0" i="1" smtClean="0">
                          <a:latin typeface="Cambria Math" panose="02040503050406030204" pitchFamily="18" charset="0"/>
                        </a:rPr>
                        <m:t>=</m:t>
                      </m:r>
                    </m:oMath>
                  </m:oMathPara>
                </a14:m>
                <a:endParaRPr lang="en-US" altLang="zh-TW" dirty="0"/>
              </a:p>
              <a:p>
                <a:pPr marL="0" indent="0">
                  <a:buNone/>
                </a:pPr>
                <a:endParaRPr lang="en-US" altLang="zh-TW" dirty="0"/>
              </a:p>
              <a:p>
                <a:pPr marL="0" indent="0">
                  <a:buNone/>
                </a:pPr>
                <a:endParaRPr lang="en-US" altLang="zh-TW" dirty="0"/>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𝑉</m:t>
                      </m:r>
                      <m:r>
                        <a:rPr lang="zh-TW" altLang="en-US" b="0" i="1" smtClean="0">
                          <a:latin typeface="Cambria Math" panose="02040503050406030204" pitchFamily="18" charset="0"/>
                        </a:rPr>
                        <m:t>𝜖</m:t>
                      </m:r>
                      <m:r>
                        <a:rPr lang="en-US" altLang="zh-TW" b="0" i="1" smtClean="0">
                          <a:latin typeface="Cambria Math" panose="02040503050406030204" pitchFamily="18" charset="0"/>
                        </a:rPr>
                        <m:t> </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𝑅</m:t>
                          </m:r>
                        </m:e>
                        <m:sup>
                          <m:r>
                            <a:rPr lang="en-US" altLang="zh-TW" b="0" i="1" smtClean="0">
                              <a:latin typeface="Cambria Math" panose="02040503050406030204" pitchFamily="18" charset="0"/>
                            </a:rPr>
                            <m:t>𝑛</m:t>
                          </m:r>
                          <m:r>
                            <a:rPr lang="en-US" altLang="zh-TW" b="0" i="1" smtClean="0">
                              <a:latin typeface="Cambria Math" panose="02040503050406030204" pitchFamily="18" charset="0"/>
                            </a:rPr>
                            <m:t>×</m:t>
                          </m:r>
                          <m:r>
                            <a:rPr lang="en-US" altLang="zh-TW" b="0" i="1" smtClean="0">
                              <a:latin typeface="Cambria Math" panose="02040503050406030204" pitchFamily="18" charset="0"/>
                            </a:rPr>
                            <m:t>𝑛</m:t>
                          </m:r>
                        </m:sup>
                      </m:sSup>
                      <m:r>
                        <a:rPr lang="en-US" altLang="zh-TW" b="0" i="1" smtClean="0">
                          <a:latin typeface="Cambria Math" panose="02040503050406030204" pitchFamily="18" charset="0"/>
                        </a:rPr>
                        <m:t> </m:t>
                      </m:r>
                      <m:r>
                        <a:rPr lang="en-US" altLang="zh-TW" b="0" i="1" smtClean="0">
                          <a:latin typeface="Cambria Math" panose="02040503050406030204" pitchFamily="18" charset="0"/>
                        </a:rPr>
                        <m:t>  </m:t>
                      </m:r>
                      <m:r>
                        <a:rPr lang="en-US" altLang="zh-TW" b="0" i="1" smtClean="0">
                          <a:latin typeface="Cambria Math" panose="02040503050406030204" pitchFamily="18" charset="0"/>
                        </a:rPr>
                        <m:t> </m:t>
                      </m:r>
                      <m:r>
                        <a:rPr lang="en-US" altLang="zh-TW" b="0" i="1" smtClean="0">
                          <a:latin typeface="Cambria Math" panose="02040503050406030204" pitchFamily="18" charset="0"/>
                        </a:rPr>
                        <m:t>𝑖𝑠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𝑎𝑛</m:t>
                      </m:r>
                      <m:r>
                        <a:rPr lang="en-US" altLang="zh-TW" b="0" i="1" smtClean="0">
                          <a:latin typeface="Cambria Math" panose="02040503050406030204" pitchFamily="18" charset="0"/>
                        </a:rPr>
                        <m:t> </m:t>
                      </m:r>
                      <m:r>
                        <a:rPr lang="en-US" altLang="zh-TW" b="0" i="1" smtClean="0">
                          <a:latin typeface="Cambria Math" panose="02040503050406030204" pitchFamily="18" charset="0"/>
                        </a:rPr>
                        <m:t>𝑜𝑟𝑡h𝑜𝑔𝑜𝑛𝑎𝑙</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𝑚𝑎𝑡𝑟𝑖𝑥</m:t>
                      </m:r>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𝐴</m:t>
                              </m:r>
                            </m:e>
                            <m:sup>
                              <m:r>
                                <a:rPr lang="en-US" altLang="zh-TW" b="0" i="1" smtClean="0">
                                  <a:latin typeface="Cambria Math" panose="02040503050406030204" pitchFamily="18" charset="0"/>
                                </a:rPr>
                                <m:t>𝑇</m:t>
                              </m:r>
                            </m:sup>
                          </m:sSup>
                          <m:r>
                            <a:rPr lang="en-US" altLang="zh-TW" b="0" i="1" smtClean="0">
                              <a:latin typeface="Cambria Math" panose="02040503050406030204" pitchFamily="18" charset="0"/>
                            </a:rPr>
                            <m:t>𝐴</m:t>
                          </m:r>
                          <m:r>
                            <a:rPr lang="en-US" altLang="zh-TW" b="0" i="1" smtClean="0">
                              <a:latin typeface="Cambria Math" panose="02040503050406030204" pitchFamily="18" charset="0"/>
                            </a:rPr>
                            <m:t>=</m:t>
                          </m:r>
                          <m:r>
                            <a:rPr lang="en-US" altLang="zh-TW" b="0" i="1" smtClean="0">
                              <a:latin typeface="Cambria Math" panose="02040503050406030204" pitchFamily="18" charset="0"/>
                            </a:rPr>
                            <m:t>𝑉</m:t>
                          </m:r>
                          <m:r>
                            <a:rPr lang="en-US" altLang="zh-TW" b="0" i="1" smtClean="0">
                              <a:latin typeface="Cambria Math" panose="02040503050406030204" pitchFamily="18" charset="0"/>
                            </a:rPr>
                            <m:t>𝐷</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𝑉</m:t>
                              </m:r>
                            </m:e>
                            <m:sup>
                              <m:r>
                                <a:rPr lang="en-US" altLang="zh-TW" b="0" i="1" smtClean="0">
                                  <a:latin typeface="Cambria Math" panose="02040503050406030204" pitchFamily="18" charset="0"/>
                                </a:rPr>
                                <m:t>𝑇</m:t>
                              </m:r>
                            </m:sup>
                          </m:sSup>
                        </m:e>
                      </m:d>
                    </m:oMath>
                  </m:oMathPara>
                </a14:m>
                <a:endParaRPr lang="en-US" altLang="zh-TW" dirty="0"/>
              </a:p>
              <a:p>
                <a:pPr marL="0" indent="0">
                  <a:buNone/>
                </a:pPr>
                <a:r>
                  <a:rPr lang="en-US" altLang="zh-TW" dirty="0"/>
                  <a:t>spectral decomposition </a:t>
                </a:r>
                <a:endParaRPr lang="en-US" altLang="zh-TW"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𝐴</m:t>
                      </m:r>
                      <m:r>
                        <a:rPr lang="en-US" altLang="zh-TW" b="0" i="1" smtClean="0">
                          <a:latin typeface="Cambria Math" panose="02040503050406030204" pitchFamily="18" charset="0"/>
                        </a:rPr>
                        <m:t> </m:t>
                      </m:r>
                      <m:r>
                        <a:rPr lang="zh-TW" altLang="en-US" b="0" i="1" smtClean="0">
                          <a:latin typeface="Cambria Math" panose="02040503050406030204" pitchFamily="18" charset="0"/>
                        </a:rPr>
                        <m:t>𝜖</m:t>
                      </m:r>
                      <m:r>
                        <a:rPr lang="en-US" altLang="zh-TW" b="0" i="1" smtClean="0">
                          <a:latin typeface="Cambria Math" panose="02040503050406030204" pitchFamily="18" charset="0"/>
                        </a:rPr>
                        <m:t> </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𝑅</m:t>
                          </m:r>
                        </m:e>
                        <m:sup>
                          <m:r>
                            <a:rPr lang="en-US" altLang="zh-TW" b="0" i="1" smtClean="0">
                              <a:latin typeface="Cambria Math" panose="02040503050406030204" pitchFamily="18" charset="0"/>
                            </a:rPr>
                            <m:t>𝑚</m:t>
                          </m:r>
                          <m:r>
                            <a:rPr lang="en-US" altLang="zh-TW" b="0" i="1" smtClean="0">
                              <a:latin typeface="Cambria Math" panose="02040503050406030204" pitchFamily="18" charset="0"/>
                            </a:rPr>
                            <m:t>×</m:t>
                          </m:r>
                          <m:r>
                            <a:rPr lang="en-US" altLang="zh-TW" b="0" i="1" smtClean="0">
                              <a:latin typeface="Cambria Math" panose="02040503050406030204" pitchFamily="18" charset="0"/>
                            </a:rPr>
                            <m:t>𝑚</m:t>
                          </m:r>
                        </m:sup>
                      </m:sSup>
                      <m:r>
                        <a:rPr lang="en-US" altLang="zh-TW" b="0" i="1" smtClean="0">
                          <a:latin typeface="Cambria Math" panose="02040503050406030204" pitchFamily="18" charset="0"/>
                        </a:rPr>
                        <m:t>, </m:t>
                      </m:r>
                      <m:r>
                        <a:rPr lang="en-US" altLang="zh-TW" b="0" i="1" smtClean="0">
                          <a:latin typeface="Cambria Math" panose="02040503050406030204" pitchFamily="18" charset="0"/>
                        </a:rPr>
                        <m:t>𝑡h𝑒𝑛</m:t>
                      </m:r>
                      <m:r>
                        <a:rPr lang="en-US" altLang="zh-TW" b="0" i="1" smtClean="0">
                          <a:latin typeface="Cambria Math" panose="02040503050406030204" pitchFamily="18" charset="0"/>
                        </a:rPr>
                        <m:t> </m:t>
                      </m:r>
                      <m:r>
                        <a:rPr lang="en-US" altLang="zh-TW" b="0" i="1" smtClean="0">
                          <a:latin typeface="Cambria Math" panose="02040503050406030204" pitchFamily="18" charset="0"/>
                        </a:rPr>
                        <m:t>𝐴</m:t>
                      </m:r>
                      <m:r>
                        <a:rPr lang="en-US" altLang="zh-TW" b="0" i="1" smtClean="0">
                          <a:latin typeface="Cambria Math" panose="02040503050406030204" pitchFamily="18" charset="0"/>
                        </a:rPr>
                        <m:t>=</m:t>
                      </m:r>
                      <m:r>
                        <m:rPr>
                          <m:sty m:val="p"/>
                        </m:rPr>
                        <a:rPr lang="en-US" altLang="zh-TW" i="1">
                          <a:latin typeface="Cambria Math" panose="02040503050406030204" pitchFamily="18" charset="0"/>
                        </a:rPr>
                        <m:t>Q</m:t>
                      </m:r>
                      <m:r>
                        <m:rPr>
                          <m:sty m:val="p"/>
                        </m:rPr>
                        <a:rPr lang="en-US" altLang="zh-TW" b="0" i="0" smtClean="0">
                          <a:latin typeface="Cambria Math" panose="02040503050406030204" pitchFamily="18" charset="0"/>
                        </a:rPr>
                        <m:t>Λ</m:t>
                      </m:r>
                      <m:sSup>
                        <m:sSupPr>
                          <m:ctrlPr>
                            <a:rPr lang="en-US" altLang="zh-TW" b="0" i="1" smtClean="0">
                              <a:latin typeface="Cambria Math" panose="02040503050406030204" pitchFamily="18" charset="0"/>
                            </a:rPr>
                          </m:ctrlPr>
                        </m:sSupPr>
                        <m:e>
                          <m:r>
                            <m:rPr>
                              <m:sty m:val="p"/>
                            </m:rPr>
                            <a:rPr lang="en-US" altLang="zh-TW" i="1">
                              <a:latin typeface="Cambria Math" panose="02040503050406030204" pitchFamily="18" charset="0"/>
                            </a:rPr>
                            <m:t>Q</m:t>
                          </m:r>
                        </m:e>
                        <m:sup>
                          <m:r>
                            <a:rPr lang="en-US" altLang="zh-TW" b="0" i="1" smtClean="0">
                              <a:latin typeface="Cambria Math" panose="02040503050406030204" pitchFamily="18" charset="0"/>
                            </a:rPr>
                            <m:t>−1</m:t>
                          </m:r>
                        </m:sup>
                      </m:sSup>
                    </m:oMath>
                  </m:oMathPara>
                </a14:m>
                <a:endParaRPr lang="zh-TW" altLang="en-US" dirty="0"/>
              </a:p>
            </p:txBody>
          </p:sp>
        </mc:Choice>
        <mc:Fallback>
          <p:sp>
            <p:nvSpPr>
              <p:cNvPr id="3" name="內容版面配置區 2">
                <a:extLst>
                  <a:ext uri="{FF2B5EF4-FFF2-40B4-BE49-F238E27FC236}">
                    <a16:creationId xmlns:a16="http://schemas.microsoft.com/office/drawing/2014/main" id="{DAAE5891-F607-4B1D-A045-45015AD745A7}"/>
                  </a:ext>
                </a:extLst>
              </p:cNvPr>
              <p:cNvSpPr>
                <a:spLocks noGrp="1" noRot="1" noChangeAspect="1" noMove="1" noResize="1" noEditPoints="1" noAdjustHandles="1" noChangeArrowheads="1" noChangeShapeType="1" noTextEdit="1"/>
              </p:cNvSpPr>
              <p:nvPr>
                <p:ph idx="1"/>
              </p:nvPr>
            </p:nvSpPr>
            <p:spPr>
              <a:xfrm>
                <a:off x="838200" y="1253331"/>
                <a:ext cx="10515600" cy="5309394"/>
              </a:xfrm>
              <a:blipFill>
                <a:blip r:embed="rId3"/>
                <a:stretch>
                  <a:fillRect l="-1217" t="-1952"/>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id="{328313BE-84CF-4F99-9F8E-66CD7AC09ACC}"/>
              </a:ext>
            </a:extLst>
          </p:cNvPr>
          <p:cNvPicPr>
            <a:picLocks noChangeAspect="1"/>
          </p:cNvPicPr>
          <p:nvPr/>
        </p:nvPicPr>
        <p:blipFill>
          <a:blip r:embed="rId4"/>
          <a:stretch>
            <a:fillRect/>
          </a:stretch>
        </p:blipFill>
        <p:spPr>
          <a:xfrm>
            <a:off x="7119937" y="2805112"/>
            <a:ext cx="1876425" cy="1666875"/>
          </a:xfrm>
          <a:prstGeom prst="rect">
            <a:avLst/>
          </a:prstGeom>
        </p:spPr>
      </p:pic>
    </p:spTree>
    <p:extLst>
      <p:ext uri="{BB962C8B-B14F-4D97-AF65-F5344CB8AC3E}">
        <p14:creationId xmlns:p14="http://schemas.microsoft.com/office/powerpoint/2010/main" val="2789201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56B4F3-3C2D-47FF-8C22-60F94C95E2A3}"/>
              </a:ext>
            </a:extLst>
          </p:cNvPr>
          <p:cNvSpPr>
            <a:spLocks noGrp="1"/>
          </p:cNvSpPr>
          <p:nvPr>
            <p:ph type="title"/>
          </p:nvPr>
        </p:nvSpPr>
        <p:spPr/>
        <p:txBody>
          <a:bodyPr/>
          <a:lstStyle/>
          <a:p>
            <a:r>
              <a:rPr lang="en-US" altLang="zh-TW" dirty="0"/>
              <a:t>Principal Component Analysis</a:t>
            </a:r>
            <a:endParaRPr lang="zh-TW" altLang="en-US" dirty="0"/>
          </a:p>
        </p:txBody>
      </p:sp>
      <p:sp>
        <p:nvSpPr>
          <p:cNvPr id="7" name="內容版面配置區 6">
            <a:extLst>
              <a:ext uri="{FF2B5EF4-FFF2-40B4-BE49-F238E27FC236}">
                <a16:creationId xmlns:a16="http://schemas.microsoft.com/office/drawing/2014/main" id="{25D0ED73-4323-4306-9533-F98CEB4DE454}"/>
              </a:ext>
            </a:extLst>
          </p:cNvPr>
          <p:cNvSpPr>
            <a:spLocks noGrp="1"/>
          </p:cNvSpPr>
          <p:nvPr>
            <p:ph idx="1"/>
          </p:nvPr>
        </p:nvSpPr>
        <p:spPr/>
        <p:txBody>
          <a:bodyPr/>
          <a:lstStyle/>
          <a:p>
            <a:endParaRPr lang="zh-TW" altLang="en-US" dirty="0"/>
          </a:p>
        </p:txBody>
      </p:sp>
    </p:spTree>
    <p:extLst>
      <p:ext uri="{BB962C8B-B14F-4D97-AF65-F5344CB8AC3E}">
        <p14:creationId xmlns:p14="http://schemas.microsoft.com/office/powerpoint/2010/main" val="1903892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92C919-657D-484E-8B67-34589FCD6ED8}"/>
              </a:ext>
            </a:extLst>
          </p:cNvPr>
          <p:cNvSpPr>
            <a:spLocks noGrp="1"/>
          </p:cNvSpPr>
          <p:nvPr>
            <p:ph type="title"/>
          </p:nvPr>
        </p:nvSpPr>
        <p:spPr/>
        <p:txBody>
          <a:bodyPr/>
          <a:lstStyle/>
          <a:p>
            <a:r>
              <a:rPr lang="en-US" altLang="zh-TW" dirty="0"/>
              <a:t>SVD</a:t>
            </a:r>
            <a:br>
              <a:rPr lang="en-US" altLang="zh-TW" dirty="0"/>
            </a:br>
            <a:endParaRPr lang="zh-TW" altLang="en-US" dirty="0"/>
          </a:p>
        </p:txBody>
      </p:sp>
      <p:sp>
        <p:nvSpPr>
          <p:cNvPr id="3" name="內容版面配置區 2">
            <a:extLst>
              <a:ext uri="{FF2B5EF4-FFF2-40B4-BE49-F238E27FC236}">
                <a16:creationId xmlns:a16="http://schemas.microsoft.com/office/drawing/2014/main" id="{A497E703-6F55-4894-96DD-66E5AC7A78A7}"/>
              </a:ext>
            </a:extLst>
          </p:cNvPr>
          <p:cNvSpPr>
            <a:spLocks noGrp="1"/>
          </p:cNvSpPr>
          <p:nvPr>
            <p:ph idx="1"/>
          </p:nvPr>
        </p:nvSpPr>
        <p:spPr/>
        <p:txBody>
          <a:bodyPr/>
          <a:lstStyle/>
          <a:p>
            <a:endParaRPr lang="zh-TW" altLang="en-US"/>
          </a:p>
        </p:txBody>
      </p:sp>
    </p:spTree>
    <p:extLst>
      <p:ext uri="{BB962C8B-B14F-4D97-AF65-F5344CB8AC3E}">
        <p14:creationId xmlns:p14="http://schemas.microsoft.com/office/powerpoint/2010/main" val="2335529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B8591C-9F29-4926-B52E-A37339BA9061}"/>
              </a:ext>
            </a:extLst>
          </p:cNvPr>
          <p:cNvSpPr>
            <a:spLocks noGrp="1"/>
          </p:cNvSpPr>
          <p:nvPr>
            <p:ph type="title"/>
          </p:nvPr>
        </p:nvSpPr>
        <p:spPr/>
        <p:txBody>
          <a:bodyPr/>
          <a:lstStyle/>
          <a:p>
            <a:r>
              <a:rPr lang="en-US" altLang="zh-TW" dirty="0"/>
              <a:t>Applications</a:t>
            </a:r>
            <a:br>
              <a:rPr lang="zh-TW" altLang="en-US" dirty="0"/>
            </a:br>
            <a:endParaRPr lang="zh-TW" altLang="en-US" dirty="0"/>
          </a:p>
        </p:txBody>
      </p:sp>
      <p:sp>
        <p:nvSpPr>
          <p:cNvPr id="3" name="內容版面配置區 2">
            <a:extLst>
              <a:ext uri="{FF2B5EF4-FFF2-40B4-BE49-F238E27FC236}">
                <a16:creationId xmlns:a16="http://schemas.microsoft.com/office/drawing/2014/main" id="{08392392-4D7F-4711-BDCE-6654B7CB66B6}"/>
              </a:ext>
            </a:extLst>
          </p:cNvPr>
          <p:cNvSpPr>
            <a:spLocks noGrp="1"/>
          </p:cNvSpPr>
          <p:nvPr>
            <p:ph idx="1"/>
          </p:nvPr>
        </p:nvSpPr>
        <p:spPr/>
        <p:txBody>
          <a:bodyPr/>
          <a:lstStyle/>
          <a:p>
            <a:endParaRPr lang="zh-TW" altLang="en-US"/>
          </a:p>
        </p:txBody>
      </p:sp>
    </p:spTree>
    <p:extLst>
      <p:ext uri="{BB962C8B-B14F-4D97-AF65-F5344CB8AC3E}">
        <p14:creationId xmlns:p14="http://schemas.microsoft.com/office/powerpoint/2010/main" val="17986176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1449</TotalTime>
  <Words>872</Words>
  <Application>Microsoft Office PowerPoint</Application>
  <PresentationFormat>寬螢幕</PresentationFormat>
  <Paragraphs>58</Paragraphs>
  <Slides>12</Slides>
  <Notes>5</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12</vt:i4>
      </vt:variant>
    </vt:vector>
  </HeadingPairs>
  <TitlesOfParts>
    <vt:vector size="17" baseType="lpstr">
      <vt:lpstr>Arial</vt:lpstr>
      <vt:lpstr>Calibri</vt:lpstr>
      <vt:lpstr>Calibri Light</vt:lpstr>
      <vt:lpstr>Cambria Math</vt:lpstr>
      <vt:lpstr>Office 佈景主題</vt:lpstr>
      <vt:lpstr>Purpose</vt:lpstr>
      <vt:lpstr>outline</vt:lpstr>
      <vt:lpstr>Curse of dimensionality </vt:lpstr>
      <vt:lpstr>Curse of dimensionality</vt:lpstr>
      <vt:lpstr>Overfitting </vt:lpstr>
      <vt:lpstr>Combinational explosion </vt:lpstr>
      <vt:lpstr>Invalid measurements </vt:lpstr>
      <vt:lpstr>Linear algebra and probability review </vt:lpstr>
      <vt:lpstr>Linear algebra and probability review </vt:lpstr>
      <vt:lpstr>Principal Component Analysis</vt:lpstr>
      <vt:lpstr>SVD </vt:lpstr>
      <vt:lpstr>Applications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Purpose</dc:title>
  <dc:creator>苯異丙胺</dc:creator>
  <cp:lastModifiedBy>苯異丙胺</cp:lastModifiedBy>
  <cp:revision>19</cp:revision>
  <dcterms:created xsi:type="dcterms:W3CDTF">2021-05-13T08:38:18Z</dcterms:created>
  <dcterms:modified xsi:type="dcterms:W3CDTF">2021-05-14T08:47:48Z</dcterms:modified>
</cp:coreProperties>
</file>